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  <p:sldMasterId id="2147483671" r:id="rId5"/>
  </p:sldMasterIdLst>
  <p:notesMasterIdLst>
    <p:notesMasterId r:id="rId18"/>
  </p:notesMasterIdLst>
  <p:handoutMasterIdLst>
    <p:handoutMasterId r:id="rId19"/>
  </p:handoutMasterIdLst>
  <p:sldIdLst>
    <p:sldId id="256" r:id="rId6"/>
    <p:sldId id="264" r:id="rId7"/>
    <p:sldId id="260" r:id="rId8"/>
    <p:sldId id="266" r:id="rId9"/>
    <p:sldId id="267" r:id="rId10"/>
    <p:sldId id="268" r:id="rId11"/>
    <p:sldId id="269" r:id="rId12"/>
    <p:sldId id="278" r:id="rId13"/>
    <p:sldId id="279" r:id="rId14"/>
    <p:sldId id="280" r:id="rId15"/>
    <p:sldId id="281" r:id="rId16"/>
    <p:sldId id="282" r:id="rId17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8"/>
    <a:srgbClr val="6B7280"/>
    <a:srgbClr val="F7F7F5"/>
    <a:srgbClr val="7F1D1D"/>
    <a:srgbClr val="C1121F"/>
    <a:srgbClr val="FEE2E2"/>
    <a:srgbClr val="111827"/>
    <a:srgbClr val="E5E7EB"/>
    <a:srgbClr val="1D4ED8"/>
    <a:srgbClr val="EF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B1C6277-A1F0-4141-B044-524345F3FB2E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5AC5364-3771-4DA5-94A1-0BCFA494FEF0}" type="slidenum">
              <a:rPr lang="ru-RU" noProof="1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1969308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E5C4D02-FF1E-4424-9238-A06A97584C36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1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ADD3C7-09A3-4FAE-BEB8-19FEF1926070}" type="slidenum">
              <a:rPr lang="ru-RU" noProof="1" dirty="0" smtClean="0"/>
              <a:t>‹#›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19342637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CADD3C7-09A3-4FAE-BEB8-19FEF1926070}" type="slidenum">
              <a:rPr lang="ru-RU" noProof="1" smtClean="0"/>
              <a:t>1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059354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CADD3C7-09A3-4FAE-BEB8-19FEF1926070}" type="slidenum">
              <a:rPr lang="ru-RU" noProof="1" smtClean="0"/>
              <a:t>2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3179647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CADD3C7-09A3-4FAE-BEB8-19FEF1926070}" type="slidenum">
              <a:rPr lang="ru-RU" noProof="1" smtClean="0"/>
              <a:t>4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4245609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CADD3C7-09A3-4FAE-BEB8-19FEF1926070}" type="slidenum">
              <a:rPr lang="ru-RU" noProof="1" smtClean="0"/>
              <a:t>7</a:t>
            </a:fld>
            <a:endParaRPr lang="ru-RU" noProof="1"/>
          </a:p>
        </p:txBody>
      </p:sp>
    </p:spTree>
    <p:extLst>
      <p:ext uri="{BB962C8B-B14F-4D97-AF65-F5344CB8AC3E}">
        <p14:creationId xmlns:p14="http://schemas.microsoft.com/office/powerpoint/2010/main" val="267563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rtlCol="0" anchor="b"/>
          <a:lstStyle>
            <a:lvl1pPr>
              <a:defRPr sz="720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rtlCol="0"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1"/>
              <a:t>Click to edit Master subtitle style</a:t>
            </a:r>
            <a:endParaRPr lang="ru-RU" noProof="1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8FF151-C244-4002-BBF2-2C16B5366CCD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6ACEBB-7B4C-45A7-B3BC-AFC40725712D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154955" y="4777381"/>
            <a:ext cx="8825658" cy="860400"/>
          </a:xfrm>
        </p:spPr>
        <p:txBody>
          <a:bodyPr rtlCol="0"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236B78-9423-4471-B841-EA09B0A9FFF0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1103312" y="2060575"/>
            <a:ext cx="4396339" cy="4195763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5654493" y="2056092"/>
            <a:ext cx="4396341" cy="4200245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E01A64-83B6-4AE3-A473-D59C94E07287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103313" y="1905000"/>
            <a:ext cx="4396338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1103312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5654495" y="1905000"/>
            <a:ext cx="4396339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5654495" y="2514600"/>
            <a:ext cx="4396339" cy="3741738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DD46B-9A9A-4459-9653-7130D84484F9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32989" y="452719"/>
            <a:ext cx="9517845" cy="611238"/>
          </a:xfrm>
          <a:noFill/>
        </p:spPr>
        <p:txBody>
          <a:bodyPr rtlCol="0"/>
          <a:lstStyle/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7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387C3D-F039-41A5-9B88-A717D98F4E75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4"/>
          <p:cNvSpPr>
            <a:spLocks noGrp="1"/>
          </p:cNvSpPr>
          <p:nvPr>
            <p:ph type="sldNum" sz="quarter" idx="12"/>
          </p:nvPr>
        </p:nvSpPr>
        <p:spPr>
          <a:xfrm>
            <a:off x="10324333" y="319129"/>
            <a:ext cx="838199" cy="767687"/>
          </a:xfrm>
          <a:solidFill>
            <a:srgbClr val="1D4ED8">
              <a:alpha val="10196"/>
            </a:srgbClr>
          </a:solidFill>
        </p:spPr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B3506-40D0-0DD8-CDF1-9EE1C2253C81}"/>
              </a:ext>
            </a:extLst>
          </p:cNvPr>
          <p:cNvSpPr/>
          <p:nvPr userDrawn="1"/>
        </p:nvSpPr>
        <p:spPr>
          <a:xfrm flipV="1">
            <a:off x="532989" y="1086816"/>
            <a:ext cx="10591835" cy="5255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09592A-ED7A-4FC5-95D5-FC4C7C6858AD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3"/>
          <p:cNvSpPr>
            <a:spLocks noGrp="1"/>
          </p:cNvSpPr>
          <p:nvPr>
            <p:ph type="sldNum" sz="quarter" idx="12"/>
          </p:nvPr>
        </p:nvSpPr>
        <p:spPr>
          <a:solidFill>
            <a:srgbClr val="1D4ED8">
              <a:alpha val="10196"/>
            </a:srgbClr>
          </a:solidFill>
        </p:spPr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rtlCol="0" anchor="b"/>
          <a:lstStyle>
            <a:lvl1pPr algn="l">
              <a:defRPr sz="2400" b="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4784616" y="1447800"/>
            <a:ext cx="5195997" cy="4572000"/>
          </a:xfrm>
        </p:spPr>
        <p:txBody>
          <a:bodyPr rtlCol="0"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154953" y="3129280"/>
            <a:ext cx="3401063" cy="2895599"/>
          </a:xfrm>
        </p:spPr>
        <p:txBody>
          <a:bodyPr rtlCol="0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7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47A606-2241-4F73-8CA3-E371430ADB45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rtlCol="0" anchor="b">
            <a:normAutofit/>
          </a:bodyPr>
          <a:lstStyle>
            <a:lvl1pPr algn="l">
              <a:defRPr sz="3600" b="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5084979" cy="1371600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03F3B0D-9C8E-49E2-A8E6-6C12A28C5287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ый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154956" y="5367325"/>
            <a:ext cx="8825656" cy="493712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2B1E2A-53F8-47AE-BA33-398D1F79B260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8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3657600"/>
            <a:ext cx="8825659" cy="23622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FF4EAB-1780-4A6B-99BB-200AD653FA73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 rtlCol="0"/>
          <a:lstStyle>
            <a:lvl1pPr>
              <a:defRPr sz="480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11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1154954" y="4350657"/>
            <a:ext cx="8825659" cy="167640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C910B6-6CBB-4D71-B62D-1ABBC2A58073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  <p:sp>
        <p:nvSpPr>
          <p:cNvPr id="12" name="Надпись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ru-RU" noProof="1"/>
              <a:t>«</a:t>
            </a:r>
          </a:p>
        </p:txBody>
      </p:sp>
      <p:sp>
        <p:nvSpPr>
          <p:cNvPr id="15" name="Надпись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 rtl="0"/>
            <a:r>
              <a:rPr lang="ru-RU" noProof="1"/>
              <a:t>»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rtlCol="0" anchor="b"/>
          <a:lstStyle>
            <a:lvl1pPr algn="l">
              <a:defRPr sz="4000" b="0" cap="none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1154954" y="4777381"/>
            <a:ext cx="8825659" cy="860400"/>
          </a:xfrm>
        </p:spPr>
        <p:txBody>
          <a:bodyPr rtlCol="0"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3F878BE-1803-465E-84E7-7C9130D675C2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ойной столбе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67687"/>
          </a:xfrm>
          <a:solidFill>
            <a:srgbClr val="1D4ED8">
              <a:alpha val="5098"/>
            </a:srgbClr>
          </a:solidFill>
        </p:spPr>
        <p:txBody>
          <a:bodyPr rtlCol="0"/>
          <a:lstStyle>
            <a:lvl1pPr>
              <a:defRPr sz="420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32947" y="1981200"/>
            <a:ext cx="2946866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5" hasCustomPrompt="1"/>
          </p:nvPr>
        </p:nvSpPr>
        <p:spPr>
          <a:xfrm>
            <a:off x="652463" y="2667000"/>
            <a:ext cx="2927350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3883659" y="1981200"/>
            <a:ext cx="2936241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19" name="Текст 3"/>
          <p:cNvSpPr>
            <a:spLocks noGrp="1"/>
          </p:cNvSpPr>
          <p:nvPr>
            <p:ph type="body" sz="half" idx="16" hasCustomPrompt="1"/>
          </p:nvPr>
        </p:nvSpPr>
        <p:spPr>
          <a:xfrm>
            <a:off x="3873106" y="2667000"/>
            <a:ext cx="2946794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14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1981200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20" name="Текст 3"/>
          <p:cNvSpPr>
            <a:spLocks noGrp="1"/>
          </p:cNvSpPr>
          <p:nvPr>
            <p:ph type="body" sz="half" idx="17" hasCustomPrompt="1"/>
          </p:nvPr>
        </p:nvSpPr>
        <p:spPr>
          <a:xfrm>
            <a:off x="7124700" y="2667000"/>
            <a:ext cx="2932113" cy="358933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 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EA3D1B-E0CB-4449-8A7F-BA38DD5C4730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200"/>
            </a:lvl1pPr>
          </a:lstStyle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52463" y="4250949"/>
            <a:ext cx="2940050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29" name="Рисунок 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22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2463" y="4827211"/>
            <a:ext cx="2940050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 hasCustomPrompt="1"/>
          </p:nvPr>
        </p:nvSpPr>
        <p:spPr>
          <a:xfrm>
            <a:off x="3889375" y="4250949"/>
            <a:ext cx="2930525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0" name="Рисунок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23" name="Текст 3"/>
          <p:cNvSpPr>
            <a:spLocks noGrp="1"/>
          </p:cNvSpPr>
          <p:nvPr>
            <p:ph type="body" sz="half" idx="19" hasCustomPrompt="1"/>
          </p:nvPr>
        </p:nvSpPr>
        <p:spPr>
          <a:xfrm>
            <a:off x="3888022" y="4827210"/>
            <a:ext cx="2934406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14" name="Текст 4"/>
          <p:cNvSpPr>
            <a:spLocks noGrp="1"/>
          </p:cNvSpPr>
          <p:nvPr>
            <p:ph type="body" sz="quarter" idx="13" hasCustomPrompt="1"/>
          </p:nvPr>
        </p:nvSpPr>
        <p:spPr>
          <a:xfrm>
            <a:off x="7124700" y="4250949"/>
            <a:ext cx="29321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sp>
        <p:nvSpPr>
          <p:cNvPr id="31" name="Рисунок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 noProof="1"/>
              <a:t>Щелкните значок, чтобы добавить изображение</a:t>
            </a:r>
          </a:p>
        </p:txBody>
      </p:sp>
      <p:sp>
        <p:nvSpPr>
          <p:cNvPr id="24" name="Текст 3"/>
          <p:cNvSpPr>
            <a:spLocks noGrp="1"/>
          </p:cNvSpPr>
          <p:nvPr>
            <p:ph type="body" sz="half" idx="20" hasCustomPrompt="1"/>
          </p:nvPr>
        </p:nvSpPr>
        <p:spPr>
          <a:xfrm>
            <a:off x="7124575" y="4827208"/>
            <a:ext cx="2935997" cy="659189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1E7D8-E921-4C6E-9AD8-94ECF69EF1A1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 anchorCtr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3D02C9-0F34-4289-9115-DC16AE64948D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rtlCol="0" anchor="b" anchorCtr="0"/>
          <a:lstStyle/>
          <a:p>
            <a:pPr rtl="0"/>
            <a:r>
              <a:rPr lang="en-GB" noProof="1"/>
              <a:t>Click to edit Master title style</a:t>
            </a:r>
            <a:endParaRPr lang="ru-RU" noProof="1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 hasCustomPrompt="1"/>
          </p:nvPr>
        </p:nvSpPr>
        <p:spPr>
          <a:xfrm>
            <a:off x="652463" y="887414"/>
            <a:ext cx="7423149" cy="5368924"/>
          </a:xfrm>
        </p:spPr>
        <p:txBody>
          <a:bodyPr vert="eaVert" rtlCol="0"/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470D47-015E-43A7-9309-519C148563F4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1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E2D8-2E2A-2573-B363-ECFB898CE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3CE90-B6F3-3C72-F01E-A717A613D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FE3E8-9884-2955-AEDD-221657E5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FC865-DAEC-230A-FCC5-64499519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3BD32-F179-73C5-7938-D6D9C13BA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24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CF9DB-88FD-FA8E-3479-8FD17EA5B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E3D4-DB1A-D9E4-E0C9-726520228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1DF33-4A2B-6826-2099-86F044BB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96AE8-6C29-D84E-7783-859CC3289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45D80-67A0-725A-A895-FEA9B815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881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44B9-6D78-97C3-198C-50D3575E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440BB-FB60-D4E8-14F6-7A5254F5A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B507A-E4E4-2DDF-EAD4-69F940A2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1E688-4FF7-4717-4E6F-2523EDEA0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A9866-9FDF-34BA-B34B-225F4A1E3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743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B0E6-302C-C3CE-E3D0-54301402E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7732-EC64-31D1-7FC0-E9A89FCF9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BE924-8239-E15E-CBB2-BDE44CF58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8904F-A2D2-5D44-D5CD-D80A07F40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CC4A4-FA0B-7423-A832-BD5F39A1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48140-AB94-49CF-CAB5-886EEE26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7733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81D6-E693-6624-0F9F-2CF3C3F27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DBF47-171B-FFAE-3952-53E033060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2092A-46E6-ABA2-81A6-84C21EEDE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65D49-5785-C2B9-17FC-49BAF2B8C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2F80A6-2244-BD2E-85E1-4396AD45C5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7F5BB-6D89-AA58-07EA-C7CCCF5E0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FA495-3B9B-65A7-6370-4E993808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D5D59-4E6F-6830-06B1-C7A15567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4978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8054A-AD3B-D361-0055-9B84C82E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54678-2EED-19C8-BEB2-84536E8FF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E9D94A-8E04-FA57-9B10-67B02C965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D1E0C-5437-9293-5284-D67A8A3B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141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B0C003-16DF-3BEB-93ED-0BF05B3A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1B2FCB-2F40-C45E-CAFB-5486C09DA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531091-CAB7-C9B7-AD0D-F8D8BF20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268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1465-1DA9-7591-50FA-F20854FF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1013-7044-1A3B-5FFF-9BAF2B5AC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546D6-23FF-C87E-D3D3-34F105825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3F433-9951-7C87-F38E-90084BB7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5D40F-89AA-E1BB-260B-83121DD4E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4E264-4270-8FB3-8D4E-57109C8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5391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12F93-6ECF-6D5A-4EFA-20538A54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4B99E-E3BE-C85B-4E9A-EDD014FF9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9FC00-542E-C2F1-C062-38799ED02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4FCAE-93F3-5FC5-659C-BF4E842F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83CB4-1D4C-8BB2-3AD6-C4FE0FF9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F525-7A5A-F23A-9415-681A776C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9671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D72D1-3D02-6C4E-7B62-3EDD3572A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64B8B-6459-8117-BEE6-A341E0DEA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7FF26-DAF0-78D0-6FF0-ABC15DB0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49FC9-D2E1-CAA8-8368-1C141BFE5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4629A-A842-E8F6-B2FC-7E4A8892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5764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5E4F54-401D-0974-AF9F-47FAE0871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44FD3-F986-FCEC-8720-4C530F724F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0FCCA-D55B-15C6-A54B-5CC97514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ACF2-3017-6486-DB44-7C1D225A4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207AB-7215-99AC-F3FA-CF2E19ACD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05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Овал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rtl="0"/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1"/>
              <a:t>Щелкните, чтобы изменить стили текста образца слайда</a:t>
            </a:r>
          </a:p>
          <a:p>
            <a:pPr lvl="1" rtl="0"/>
            <a:r>
              <a:rPr lang="ru-RU" noProof="1"/>
              <a:t>Второй уровень</a:t>
            </a:r>
          </a:p>
          <a:p>
            <a:pPr lvl="2" rtl="0"/>
            <a:r>
              <a:rPr lang="ru-RU" noProof="1"/>
              <a:t>Третий уровень</a:t>
            </a:r>
          </a:p>
          <a:p>
            <a:pPr lvl="3" rtl="0"/>
            <a:r>
              <a:rPr lang="ru-RU" noProof="1"/>
              <a:t>Четвертый уровень</a:t>
            </a:r>
          </a:p>
          <a:p>
            <a:pPr lvl="4" rtl="0"/>
            <a:r>
              <a:rPr lang="ru-RU" noProof="1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fld id="{6FE6F31D-5525-403C-AE4E-91AEEB8DB289}" type="datetime1">
              <a:rPr lang="ru-RU" noProof="1" smtClean="0"/>
              <a:t>26.01.2026</a:t>
            </a:fld>
            <a:endParaRPr lang="ru-RU" noProof="1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 rtl="0"/>
            <a:endParaRPr lang="ru-RU" noProof="1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57F1E4F-1CFF-5643-939E-02111984F565}" type="slidenum">
              <a:rPr lang="ru-RU" noProof="1" dirty="0" smtClean="0"/>
              <a:t>‹#›</a:t>
            </a:fld>
            <a:endParaRPr lang="ru-RU" noProof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E9FFD-8D48-7C9D-1287-EA030DC6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3A311-D1DF-3C8F-DAB5-5CC8E1E0B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4D4C9-DD56-8E44-3691-8DE0A0E8A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C253-8574-4821-B076-264AC2F56EFA}" type="datetimeFigureOut">
              <a:rPr lang="ru-RU" smtClean="0"/>
              <a:t>26.01.2026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50A2D-CF06-BC7B-05DA-C4E1B68AB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0989B-F720-63BB-D6C5-0157A7948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2BA7C-1D2B-4261-BB66-8EB2F746A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01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C6D66D-3D5B-48DA-8CF8-9D6324FF8482}"/>
              </a:ext>
            </a:extLst>
          </p:cNvPr>
          <p:cNvSpPr/>
          <p:nvPr/>
        </p:nvSpPr>
        <p:spPr>
          <a:xfrm>
            <a:off x="0" y="1562100"/>
            <a:ext cx="12192000" cy="469582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8A1E1B-7219-6342-12CC-92F59D2DFDE7}"/>
              </a:ext>
            </a:extLst>
          </p:cNvPr>
          <p:cNvSpPr/>
          <p:nvPr/>
        </p:nvSpPr>
        <p:spPr>
          <a:xfrm>
            <a:off x="10322351" y="0"/>
            <a:ext cx="895546" cy="12537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Picture 4" descr="A pile of fake news&#10;&#10;AI-generated content may be incorrect.">
            <a:extLst>
              <a:ext uri="{FF2B5EF4-FFF2-40B4-BE49-F238E27FC236}">
                <a16:creationId xmlns:a16="http://schemas.microsoft.com/office/drawing/2014/main" id="{0C77805E-2A0C-8C18-1E23-9F6018CE32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0" y="17620"/>
            <a:ext cx="12192000" cy="68494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1A89D2-69D3-5185-72AD-A642B6C9EE38}"/>
              </a:ext>
            </a:extLst>
          </p:cNvPr>
          <p:cNvSpPr txBox="1"/>
          <p:nvPr/>
        </p:nvSpPr>
        <p:spPr>
          <a:xfrm>
            <a:off x="832105" y="2043103"/>
            <a:ext cx="109693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i="1" dirty="0">
                <a:effectLst/>
                <a:latin typeface="Aptos Display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Fake vs. Real: Classifying News Headlines</a:t>
            </a:r>
            <a:endParaRPr lang="ru-RU" sz="5400" b="1" dirty="0">
              <a:latin typeface="Aptos Display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5C929-6AAF-0BB8-C580-B456F46E2DBB}"/>
              </a:ext>
            </a:extLst>
          </p:cNvPr>
          <p:cNvSpPr txBox="1"/>
          <p:nvPr/>
        </p:nvSpPr>
        <p:spPr>
          <a:xfrm>
            <a:off x="912627" y="3894363"/>
            <a:ext cx="109693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· </a:t>
            </a:r>
            <a:r>
              <a:rPr lang="en-US" sz="2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NLP Study   		</a:t>
            </a:r>
            <a:r>
              <a:rPr lang="en-US" sz="2800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· </a:t>
            </a:r>
            <a:r>
              <a:rPr lang="en-US" sz="2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34k+ </a:t>
            </a: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H</a:t>
            </a:r>
            <a:r>
              <a:rPr lang="en-US" sz="2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eadlines		</a:t>
            </a:r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ptos" panose="020B0004020202020204" pitchFamily="34" charset="0"/>
              </a:rPr>
              <a:t> · </a:t>
            </a:r>
            <a:r>
              <a:rPr lang="en-US" sz="2800" b="0" i="0" dirty="0" err="1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Ironhack</a:t>
            </a:r>
            <a:r>
              <a:rPr lang="en-US" sz="2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ptos" panose="020B0004020202020204" pitchFamily="34" charset="0"/>
              </a:rPr>
              <a:t> DS/ML Bootcamp</a:t>
            </a:r>
          </a:p>
          <a:p>
            <a:endParaRPr lang="ru-RU" sz="2800" dirty="0">
              <a:solidFill>
                <a:schemeClr val="accent1">
                  <a:lumMod val="40000"/>
                  <a:lumOff val="60000"/>
                </a:schemeClr>
              </a:solidFill>
              <a:latin typeface="Aptos" panose="020B000402020202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407FC5-5BCA-3027-838C-20BFAFC828B3}"/>
              </a:ext>
            </a:extLst>
          </p:cNvPr>
          <p:cNvCxnSpPr>
            <a:cxnSpLocks/>
          </p:cNvCxnSpPr>
          <p:nvPr/>
        </p:nvCxnSpPr>
        <p:spPr>
          <a:xfrm>
            <a:off x="917084" y="4507992"/>
            <a:ext cx="10570066" cy="0"/>
          </a:xfrm>
          <a:prstGeom prst="line">
            <a:avLst/>
          </a:prstGeom>
          <a:ln w="76200">
            <a:gradFill>
              <a:gsLst>
                <a:gs pos="0">
                  <a:srgbClr val="1D4ED8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95AAA7-E987-D1B3-AA46-5A2E8B9F035B}"/>
              </a:ext>
            </a:extLst>
          </p:cNvPr>
          <p:cNvSpPr txBox="1"/>
          <p:nvPr/>
        </p:nvSpPr>
        <p:spPr>
          <a:xfrm>
            <a:off x="5332476" y="4866090"/>
            <a:ext cx="152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Julia Parnis</a:t>
            </a:r>
            <a:endParaRPr lang="ru-RU" dirty="0"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EC5CCD-1EF7-B77C-FE68-3DB84408F1AA}"/>
              </a:ext>
            </a:extLst>
          </p:cNvPr>
          <p:cNvSpPr txBox="1"/>
          <p:nvPr/>
        </p:nvSpPr>
        <p:spPr>
          <a:xfrm>
            <a:off x="5350119" y="5259589"/>
            <a:ext cx="1527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17.01.2026</a:t>
            </a:r>
            <a:endParaRPr lang="ru-RU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90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F1A2-9FC1-2314-EBD3-CDEB8F736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Detecting deception</a:t>
            </a:r>
            <a:endParaRPr lang="ru-RU" sz="3600" b="1" dirty="0">
              <a:solidFill>
                <a:schemeClr val="bg1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07B49E6-95A3-4F10-D2B9-2479906307FF}"/>
              </a:ext>
            </a:extLst>
          </p:cNvPr>
          <p:cNvGrpSpPr/>
          <p:nvPr/>
        </p:nvGrpSpPr>
        <p:grpSpPr>
          <a:xfrm>
            <a:off x="331058" y="1303020"/>
            <a:ext cx="5120640" cy="1993392"/>
            <a:chOff x="407258" y="1303020"/>
            <a:chExt cx="5120640" cy="1993392"/>
          </a:xfrm>
        </p:grpSpPr>
        <p:sp>
          <p:nvSpPr>
            <p:cNvPr id="3" name="Rounded Rectangle 6">
              <a:extLst>
                <a:ext uri="{FF2B5EF4-FFF2-40B4-BE49-F238E27FC236}">
                  <a16:creationId xmlns:a16="http://schemas.microsoft.com/office/drawing/2014/main" id="{439E0D0B-DEA4-7B33-DD71-449EDDADBA86}"/>
                </a:ext>
              </a:extLst>
            </p:cNvPr>
            <p:cNvSpPr/>
            <p:nvPr/>
          </p:nvSpPr>
          <p:spPr>
            <a:xfrm>
              <a:off x="407258" y="1303020"/>
              <a:ext cx="5120639" cy="19933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D9C07BF-0BC1-AAAD-75D1-9AF18F003B4C}"/>
                </a:ext>
              </a:extLst>
            </p:cNvPr>
            <p:cNvSpPr txBox="1"/>
            <p:nvPr/>
          </p:nvSpPr>
          <p:spPr>
            <a:xfrm>
              <a:off x="715870" y="1988820"/>
              <a:ext cx="4812028" cy="21544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400" b="1" dirty="0">
                  <a:solidFill>
                    <a:srgbClr val="6B7280"/>
                  </a:solidFill>
                  <a:latin typeface="Calibri"/>
                </a:rPr>
                <a:t>Label in dataset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EEB718-2755-A326-EF45-D36D673004EA}"/>
                </a:ext>
              </a:extLst>
            </p:cNvPr>
            <p:cNvSpPr txBox="1"/>
            <p:nvPr/>
          </p:nvSpPr>
          <p:spPr>
            <a:xfrm>
              <a:off x="715870" y="2354580"/>
              <a:ext cx="4608606" cy="66018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2000" b="0" dirty="0">
                  <a:solidFill>
                    <a:srgbClr val="111827"/>
                  </a:solidFill>
                  <a:latin typeface="Calibri"/>
                </a:rPr>
                <a:t>New York mayor to back $2.5 billion
light rail in key speech</a:t>
              </a: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3497E7-5019-EAA1-6930-F95F097FC9C4}"/>
                </a:ext>
              </a:extLst>
            </p:cNvPr>
            <p:cNvGrpSpPr/>
            <p:nvPr/>
          </p:nvGrpSpPr>
          <p:grpSpPr>
            <a:xfrm>
              <a:off x="715869" y="1444092"/>
              <a:ext cx="1097280" cy="411480"/>
              <a:chOff x="715869" y="1461895"/>
              <a:chExt cx="1097280" cy="411480"/>
            </a:xfrm>
          </p:grpSpPr>
          <p:sp>
            <p:nvSpPr>
              <p:cNvPr id="13" name="Rounded Rectangle 7">
                <a:extLst>
                  <a:ext uri="{FF2B5EF4-FFF2-40B4-BE49-F238E27FC236}">
                    <a16:creationId xmlns:a16="http://schemas.microsoft.com/office/drawing/2014/main" id="{0246E74E-6576-32B0-46D6-05510DB32706}"/>
                  </a:ext>
                </a:extLst>
              </p:cNvPr>
              <p:cNvSpPr/>
              <p:nvPr/>
            </p:nvSpPr>
            <p:spPr>
              <a:xfrm>
                <a:off x="715869" y="1461895"/>
                <a:ext cx="1097280" cy="411480"/>
              </a:xfrm>
              <a:prstGeom prst="roundRect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B257406-2644-AD1E-D62B-8E9E9229DC11}"/>
                  </a:ext>
                </a:extLst>
              </p:cNvPr>
              <p:cNvSpPr txBox="1"/>
              <p:nvPr/>
            </p:nvSpPr>
            <p:spPr>
              <a:xfrm>
                <a:off x="715869" y="1484755"/>
                <a:ext cx="1097280" cy="36576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400" b="1" dirty="0">
                    <a:solidFill>
                      <a:srgbClr val="FFFFFF"/>
                    </a:solidFill>
                    <a:latin typeface="Calibri"/>
                  </a:rPr>
                  <a:t>REAL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E5CDC92-C75C-61A4-ECF0-A06B010CF8C9}"/>
              </a:ext>
            </a:extLst>
          </p:cNvPr>
          <p:cNvGrpSpPr/>
          <p:nvPr/>
        </p:nvGrpSpPr>
        <p:grpSpPr>
          <a:xfrm>
            <a:off x="6657564" y="1303020"/>
            <a:ext cx="5120639" cy="1993392"/>
            <a:chOff x="5962239" y="1303020"/>
            <a:chExt cx="5120639" cy="1993392"/>
          </a:xfrm>
        </p:grpSpPr>
        <p:sp>
          <p:nvSpPr>
            <p:cNvPr id="7" name="Rounded Rectangle 12">
              <a:extLst>
                <a:ext uri="{FF2B5EF4-FFF2-40B4-BE49-F238E27FC236}">
                  <a16:creationId xmlns:a16="http://schemas.microsoft.com/office/drawing/2014/main" id="{D7AC49C0-3E3F-DA2B-9A7F-23235633288A}"/>
                </a:ext>
              </a:extLst>
            </p:cNvPr>
            <p:cNvSpPr/>
            <p:nvPr/>
          </p:nvSpPr>
          <p:spPr>
            <a:xfrm>
              <a:off x="5962239" y="1303020"/>
              <a:ext cx="5120639" cy="199339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78E66CC-0364-EFC8-0987-CB08A62C860E}"/>
                </a:ext>
              </a:extLst>
            </p:cNvPr>
            <p:cNvGrpSpPr/>
            <p:nvPr/>
          </p:nvGrpSpPr>
          <p:grpSpPr>
            <a:xfrm>
              <a:off x="6145119" y="1444092"/>
              <a:ext cx="4937759" cy="1570669"/>
              <a:chOff x="6145119" y="1444092"/>
              <a:chExt cx="4937759" cy="157066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71B8758-6BF4-449F-29A9-1ED1E585D8BA}"/>
                  </a:ext>
                </a:extLst>
              </p:cNvPr>
              <p:cNvSpPr txBox="1"/>
              <p:nvPr/>
            </p:nvSpPr>
            <p:spPr>
              <a:xfrm>
                <a:off x="6145119" y="1988820"/>
                <a:ext cx="4937759" cy="365760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sz="1400" b="1" dirty="0">
                    <a:solidFill>
                      <a:srgbClr val="6B7280"/>
                    </a:solidFill>
                    <a:latin typeface="Calibri"/>
                  </a:rPr>
                  <a:t>Label in dataset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040949-9327-EA19-6462-F4B4053FC073}"/>
                  </a:ext>
                </a:extLst>
              </p:cNvPr>
              <p:cNvSpPr txBox="1"/>
              <p:nvPr/>
            </p:nvSpPr>
            <p:spPr>
              <a:xfrm>
                <a:off x="6145119" y="2354580"/>
                <a:ext cx="4637181" cy="66018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sz="2000" b="0" dirty="0">
                    <a:solidFill>
                      <a:srgbClr val="111827"/>
                    </a:solidFill>
                    <a:latin typeface="Calibri"/>
                  </a:rPr>
                  <a:t>Top official: we find illegal aliens
– and here’s why we won’t deport them</a:t>
                </a:r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C6B9DBF-29E5-4FC2-D6D3-F2CE17706953}"/>
                  </a:ext>
                </a:extLst>
              </p:cNvPr>
              <p:cNvGrpSpPr/>
              <p:nvPr/>
            </p:nvGrpSpPr>
            <p:grpSpPr>
              <a:xfrm>
                <a:off x="6161106" y="1444092"/>
                <a:ext cx="1097280" cy="411480"/>
                <a:chOff x="6161106" y="1444092"/>
                <a:chExt cx="1097280" cy="411480"/>
              </a:xfrm>
            </p:grpSpPr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7731C71A-D818-6E84-E2F8-EE6AAC340C39}"/>
                    </a:ext>
                  </a:extLst>
                </p:cNvPr>
                <p:cNvSpPr/>
                <p:nvPr/>
              </p:nvSpPr>
              <p:spPr>
                <a:xfrm>
                  <a:off x="6161106" y="1444092"/>
                  <a:ext cx="1097280" cy="411480"/>
                </a:xfrm>
                <a:prstGeom prst="roundRect">
                  <a:avLst/>
                </a:prstGeom>
                <a:solidFill>
                  <a:srgbClr val="C1121F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F7A091C-C348-63C3-6C92-86464211E332}"/>
                    </a:ext>
                  </a:extLst>
                </p:cNvPr>
                <p:cNvSpPr txBox="1"/>
                <p:nvPr/>
              </p:nvSpPr>
              <p:spPr>
                <a:xfrm>
                  <a:off x="6161106" y="1466952"/>
                  <a:ext cx="1097280" cy="365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>
                  <a:spAutoFit/>
                </a:bodyPr>
                <a:lstStyle/>
                <a:p>
                  <a:pPr algn="ctr">
                    <a:lnSpc>
                      <a:spcPct val="100000"/>
                    </a:lnSpc>
                  </a:pPr>
                  <a:r>
                    <a:rPr sz="1400" b="1" dirty="0">
                      <a:solidFill>
                        <a:srgbClr val="FFFFFF"/>
                      </a:solidFill>
                      <a:latin typeface="Calibri"/>
                    </a:rPr>
                    <a:t>FAKE</a:t>
                  </a:r>
                </a:p>
              </p:txBody>
            </p:sp>
          </p:grp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90FE316-4F4E-1560-B33C-2CF0CF3B2D5F}"/>
              </a:ext>
            </a:extLst>
          </p:cNvPr>
          <p:cNvSpPr txBox="1"/>
          <p:nvPr/>
        </p:nvSpPr>
        <p:spPr>
          <a:xfrm>
            <a:off x="613411" y="3564925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dirty="0">
                <a:solidFill>
                  <a:srgbClr val="111827"/>
                </a:solidFill>
                <a:latin typeface="Calibri"/>
              </a:rPr>
              <a:t>Why it matters (Europe)</a:t>
            </a:r>
          </a:p>
        </p:txBody>
      </p:sp>
      <p:sp>
        <p:nvSpPr>
          <p:cNvPr id="16" name="Rounded Rectangle 20">
            <a:extLst>
              <a:ext uri="{FF2B5EF4-FFF2-40B4-BE49-F238E27FC236}">
                <a16:creationId xmlns:a16="http://schemas.microsoft.com/office/drawing/2014/main" id="{2BBCEDA4-BED4-01C1-E295-30F6801C7646}"/>
              </a:ext>
            </a:extLst>
          </p:cNvPr>
          <p:cNvSpPr/>
          <p:nvPr/>
        </p:nvSpPr>
        <p:spPr>
          <a:xfrm>
            <a:off x="441961" y="3922293"/>
            <a:ext cx="3566160" cy="13924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4E50AC-3961-1A49-912A-7405D4BB9F22}"/>
              </a:ext>
            </a:extLst>
          </p:cNvPr>
          <p:cNvSpPr txBox="1"/>
          <p:nvPr/>
        </p:nvSpPr>
        <p:spPr>
          <a:xfrm>
            <a:off x="670561" y="397930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dirty="0">
                <a:solidFill>
                  <a:srgbClr val="1D4ED8"/>
                </a:solidFill>
                <a:latin typeface="Calibri"/>
              </a:rPr>
              <a:t>85%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8B1E55-9AB9-73C4-9686-A2B0ECEDB0BD}"/>
              </a:ext>
            </a:extLst>
          </p:cNvPr>
          <p:cNvSpPr txBox="1"/>
          <p:nvPr/>
        </p:nvSpPr>
        <p:spPr>
          <a:xfrm>
            <a:off x="624018" y="458285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say fake news is a problem
in their country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57F434-D459-AD01-94D5-496FC61F5512}"/>
              </a:ext>
            </a:extLst>
          </p:cNvPr>
          <p:cNvSpPr txBox="1"/>
          <p:nvPr/>
        </p:nvSpPr>
        <p:spPr>
          <a:xfrm>
            <a:off x="624018" y="508243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Germany 84% · Spain 88%</a:t>
            </a:r>
          </a:p>
        </p:txBody>
      </p:sp>
      <p:sp>
        <p:nvSpPr>
          <p:cNvPr id="20" name="Rounded Rectangle 25">
            <a:extLst>
              <a:ext uri="{FF2B5EF4-FFF2-40B4-BE49-F238E27FC236}">
                <a16:creationId xmlns:a16="http://schemas.microsoft.com/office/drawing/2014/main" id="{589FF50C-B4B8-3347-8A21-4E8A0CD76D88}"/>
              </a:ext>
            </a:extLst>
          </p:cNvPr>
          <p:cNvSpPr/>
          <p:nvPr/>
        </p:nvSpPr>
        <p:spPr>
          <a:xfrm>
            <a:off x="4327002" y="3922293"/>
            <a:ext cx="3566160" cy="13924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87DBBD-8CF3-5A09-A6BD-3EC8F773AEDC}"/>
              </a:ext>
            </a:extLst>
          </p:cNvPr>
          <p:cNvSpPr txBox="1"/>
          <p:nvPr/>
        </p:nvSpPr>
        <p:spPr>
          <a:xfrm>
            <a:off x="4541520" y="3979308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dirty="0">
                <a:solidFill>
                  <a:srgbClr val="1D4ED8"/>
                </a:solidFill>
                <a:latin typeface="Calibri"/>
              </a:rPr>
              <a:t>37%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7630C9B-BEA8-B203-EC61-3C8C2DDDCA82}"/>
              </a:ext>
            </a:extLst>
          </p:cNvPr>
          <p:cNvSpPr txBox="1"/>
          <p:nvPr/>
        </p:nvSpPr>
        <p:spPr>
          <a:xfrm>
            <a:off x="4541520" y="458285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encounter fake news
daily or almost daily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FB29CF-FD9F-22BC-51BE-7E6C32E71348}"/>
              </a:ext>
            </a:extLst>
          </p:cNvPr>
          <p:cNvSpPr txBox="1"/>
          <p:nvPr/>
        </p:nvSpPr>
        <p:spPr>
          <a:xfrm>
            <a:off x="4555602" y="508243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Germany 24% · Spain 53%</a:t>
            </a:r>
          </a:p>
        </p:txBody>
      </p: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C4E3781D-FF50-1707-98F9-EF013002B01F}"/>
              </a:ext>
            </a:extLst>
          </p:cNvPr>
          <p:cNvSpPr/>
          <p:nvPr/>
        </p:nvSpPr>
        <p:spPr>
          <a:xfrm>
            <a:off x="8212043" y="3922293"/>
            <a:ext cx="3566160" cy="139245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443B9D-F50D-98BA-B137-E3FAE71B5960}"/>
              </a:ext>
            </a:extLst>
          </p:cNvPr>
          <p:cNvSpPr txBox="1"/>
          <p:nvPr/>
        </p:nvSpPr>
        <p:spPr>
          <a:xfrm>
            <a:off x="10553933" y="4016768"/>
            <a:ext cx="103227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200" b="1" dirty="0">
                <a:solidFill>
                  <a:srgbClr val="1D4ED8"/>
                </a:solidFill>
                <a:latin typeface="Calibri"/>
              </a:rPr>
              <a:t>56</a:t>
            </a:r>
            <a:r>
              <a:rPr sz="4200" b="1" dirty="0">
                <a:solidFill>
                  <a:srgbClr val="1D4ED8"/>
                </a:solidFill>
                <a:latin typeface="Calibri"/>
              </a:rPr>
              <a:t>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472316-9E4C-491F-E967-EA01B886AB83}"/>
              </a:ext>
            </a:extLst>
          </p:cNvPr>
          <p:cNvSpPr txBox="1"/>
          <p:nvPr/>
        </p:nvSpPr>
        <p:spPr>
          <a:xfrm>
            <a:off x="8285385" y="4670328"/>
            <a:ext cx="267789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111827"/>
                </a:solidFill>
                <a:latin typeface="Calibri"/>
              </a:rPr>
              <a:t>feel very confident </a:t>
            </a:r>
          </a:p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they ca</a:t>
            </a:r>
            <a:r>
              <a:rPr lang="en-GB" sz="1400" b="0" dirty="0">
                <a:solidFill>
                  <a:srgbClr val="111827"/>
                </a:solidFill>
                <a:latin typeface="Calibri"/>
              </a:rPr>
              <a:t>n 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identify fake news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747AF1-C139-E136-A5DD-25DB2945F18F}"/>
              </a:ext>
            </a:extLst>
          </p:cNvPr>
          <p:cNvSpPr txBox="1"/>
          <p:nvPr/>
        </p:nvSpPr>
        <p:spPr>
          <a:xfrm>
            <a:off x="8267754" y="5072992"/>
            <a:ext cx="3566159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Germany</a:t>
            </a:r>
            <a:r>
              <a:rPr lang="en-US" sz="1200" b="0" dirty="0">
                <a:solidFill>
                  <a:srgbClr val="6B7280"/>
                </a:solidFill>
                <a:latin typeface="Calibri"/>
              </a:rPr>
              <a:t>: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lang="en-US" sz="1200" b="0" dirty="0">
                <a:solidFill>
                  <a:srgbClr val="6B7280"/>
                </a:solidFill>
                <a:latin typeface="Calibri"/>
              </a:rPr>
              <a:t>14% very confident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 · Spain </a:t>
            </a:r>
            <a:r>
              <a:rPr lang="en-US" sz="1200" b="0" dirty="0">
                <a:solidFill>
                  <a:srgbClr val="6B7280"/>
                </a:solidFill>
                <a:latin typeface="Calibri"/>
              </a:rPr>
              <a:t>13</a:t>
            </a:r>
            <a:r>
              <a:rPr sz="1200" b="0" dirty="0">
                <a:solidFill>
                  <a:srgbClr val="6B7280"/>
                </a:solidFill>
                <a:latin typeface="Calibri"/>
              </a:rPr>
              <a:t>%</a:t>
            </a:r>
            <a:r>
              <a:rPr lang="en-US" sz="1200" b="0" dirty="0">
                <a:solidFill>
                  <a:srgbClr val="6B7280"/>
                </a:solidFill>
                <a:latin typeface="Calibri"/>
              </a:rPr>
              <a:t> very confident</a:t>
            </a:r>
            <a:endParaRPr sz="1200" b="0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F3B5041-054D-8159-3827-7365437397F5}"/>
              </a:ext>
            </a:extLst>
          </p:cNvPr>
          <p:cNvSpPr txBox="1"/>
          <p:nvPr/>
        </p:nvSpPr>
        <p:spPr>
          <a:xfrm>
            <a:off x="441961" y="5405381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dirty="0">
                <a:solidFill>
                  <a:srgbClr val="6B7280"/>
                </a:solidFill>
                <a:latin typeface="Calibri"/>
              </a:rPr>
              <a:t>Source: European Commission — Flash Eurobarometer 464 (Fake News and Disinformation Online), Feb 2018.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C2C4BB-D1AB-8120-1624-8F2C0E10C881}"/>
              </a:ext>
            </a:extLst>
          </p:cNvPr>
          <p:cNvSpPr txBox="1"/>
          <p:nvPr/>
        </p:nvSpPr>
        <p:spPr>
          <a:xfrm>
            <a:off x="613411" y="5823381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111827"/>
                </a:solidFill>
                <a:latin typeface="Calibri"/>
              </a:rPr>
              <a:t>Why Machine Learning helps?</a:t>
            </a:r>
            <a:endParaRPr sz="1800" b="1" dirty="0">
              <a:solidFill>
                <a:srgbClr val="111827"/>
              </a:solidFill>
              <a:latin typeface="Calibri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272E704-3CB8-3B22-DACB-6B59DAD6BD9A}"/>
              </a:ext>
            </a:extLst>
          </p:cNvPr>
          <p:cNvGrpSpPr/>
          <p:nvPr/>
        </p:nvGrpSpPr>
        <p:grpSpPr>
          <a:xfrm>
            <a:off x="441962" y="6114837"/>
            <a:ext cx="11346178" cy="435674"/>
            <a:chOff x="331059" y="6114837"/>
            <a:chExt cx="11346178" cy="435674"/>
          </a:xfrm>
        </p:grpSpPr>
        <p:sp>
          <p:nvSpPr>
            <p:cNvPr id="35" name="Rounded Rectangle 20">
              <a:extLst>
                <a:ext uri="{FF2B5EF4-FFF2-40B4-BE49-F238E27FC236}">
                  <a16:creationId xmlns:a16="http://schemas.microsoft.com/office/drawing/2014/main" id="{30420F91-0A32-4D3D-7094-0CA68A702ABA}"/>
                </a:ext>
              </a:extLst>
            </p:cNvPr>
            <p:cNvSpPr/>
            <p:nvPr/>
          </p:nvSpPr>
          <p:spPr>
            <a:xfrm>
              <a:off x="331059" y="6114837"/>
              <a:ext cx="11336242" cy="43567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3D5431A-3072-04E7-DE64-AC262EF3A39A}"/>
                </a:ext>
              </a:extLst>
            </p:cNvPr>
            <p:cNvSpPr txBox="1"/>
            <p:nvPr/>
          </p:nvSpPr>
          <p:spPr>
            <a:xfrm>
              <a:off x="432023" y="6209564"/>
              <a:ext cx="11245214" cy="24622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r>
                <a:rPr lang="en-US" sz="1600" b="1" dirty="0">
                  <a:solidFill>
                    <a:srgbClr val="111827"/>
                  </a:solidFill>
                  <a:latin typeface="Calibri"/>
                </a:rPr>
                <a:t>·</a:t>
              </a:r>
              <a:r>
                <a:rPr lang="en-US" sz="1400" b="0" dirty="0">
                  <a:solidFill>
                    <a:srgbClr val="111827"/>
                  </a:solidFill>
                  <a:latin typeface="Calibri"/>
                </a:rPr>
                <a:t> </a:t>
              </a:r>
              <a:r>
                <a:rPr lang="en-US" sz="1400" b="1" dirty="0">
                  <a:solidFill>
                    <a:srgbClr val="1D4ED8"/>
                  </a:solidFill>
                  <a:latin typeface="Calibri"/>
                </a:rPr>
                <a:t>Scalability: </a:t>
              </a:r>
              <a:r>
                <a:rPr lang="en-US" sz="1400" b="0" dirty="0">
                  <a:solidFill>
                    <a:srgbClr val="111827"/>
                  </a:solidFill>
                  <a:latin typeface="Calibri"/>
                </a:rPr>
                <a:t>Process millions of headlines instantly	</a:t>
              </a:r>
              <a:r>
                <a:rPr lang="en-US" sz="1600" b="1" dirty="0">
                  <a:solidFill>
                    <a:srgbClr val="111827"/>
                  </a:solidFill>
                </a:rPr>
                <a:t> ·</a:t>
              </a:r>
              <a:r>
                <a:rPr lang="en-US" sz="1400" dirty="0">
                  <a:solidFill>
                    <a:srgbClr val="111827"/>
                  </a:solidFill>
                </a:rPr>
                <a:t> </a:t>
              </a:r>
              <a:r>
                <a:rPr lang="en-US" sz="1400" b="1" dirty="0">
                  <a:solidFill>
                    <a:srgbClr val="1D4ED8"/>
                  </a:solidFill>
                </a:rPr>
                <a:t>Objectivity: </a:t>
              </a:r>
              <a:r>
                <a:rPr lang="en-US" sz="1400" dirty="0">
                  <a:solidFill>
                    <a:srgbClr val="111827"/>
                  </a:solidFill>
                </a:rPr>
                <a:t>No bias, no fatigue, reproducible	</a:t>
              </a:r>
              <a:r>
                <a:rPr lang="en-US" sz="1600" b="1" dirty="0">
                  <a:solidFill>
                    <a:srgbClr val="111827"/>
                  </a:solidFill>
                </a:rPr>
                <a:t> ·</a:t>
              </a:r>
              <a:r>
                <a:rPr lang="en-US" sz="1400" dirty="0">
                  <a:solidFill>
                    <a:srgbClr val="111827"/>
                  </a:solidFill>
                </a:rPr>
                <a:t> </a:t>
              </a:r>
              <a:r>
                <a:rPr lang="en-US" sz="1400" b="1" dirty="0">
                  <a:solidFill>
                    <a:srgbClr val="1D4ED8"/>
                  </a:solidFill>
                </a:rPr>
                <a:t>Speed: </a:t>
              </a:r>
              <a:r>
                <a:rPr lang="en-US" sz="1400" dirty="0">
                  <a:solidFill>
                    <a:srgbClr val="111827"/>
                  </a:solidFill>
                </a:rPr>
                <a:t>Real-time detection before it spreads</a:t>
              </a:r>
              <a:endParaRPr sz="1400" b="0" dirty="0">
                <a:solidFill>
                  <a:srgbClr val="111827"/>
                </a:solidFill>
                <a:latin typeface="Calibri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E30D142-60A6-6C2D-56FB-34BF48A9A29B}"/>
              </a:ext>
            </a:extLst>
          </p:cNvPr>
          <p:cNvSpPr txBox="1"/>
          <p:nvPr/>
        </p:nvSpPr>
        <p:spPr>
          <a:xfrm>
            <a:off x="8428133" y="4009540"/>
            <a:ext cx="1032278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200" b="1" dirty="0">
                <a:solidFill>
                  <a:srgbClr val="1D4ED8"/>
                </a:solidFill>
                <a:latin typeface="Calibri"/>
              </a:rPr>
              <a:t>15</a:t>
            </a:r>
            <a:r>
              <a:rPr sz="4200" b="1" dirty="0">
                <a:solidFill>
                  <a:srgbClr val="1D4ED8"/>
                </a:solidFill>
                <a:latin typeface="Calibri"/>
              </a:rPr>
              <a:t>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4E5889-851C-B52A-0913-D030AB4471D6}"/>
              </a:ext>
            </a:extLst>
          </p:cNvPr>
          <p:cNvSpPr txBox="1"/>
          <p:nvPr/>
        </p:nvSpPr>
        <p:spPr>
          <a:xfrm>
            <a:off x="10231045" y="4670328"/>
            <a:ext cx="151899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111827"/>
                </a:solidFill>
                <a:latin typeface="Calibri"/>
              </a:rPr>
              <a:t>somewhat confident </a:t>
            </a:r>
          </a:p>
        </p:txBody>
      </p:sp>
    </p:spTree>
    <p:extLst>
      <p:ext uri="{BB962C8B-B14F-4D97-AF65-F5344CB8AC3E}">
        <p14:creationId xmlns:p14="http://schemas.microsoft.com/office/powerpoint/2010/main" val="425220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E543F-9933-8049-D43F-1039B546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4676-6907-B563-45F7-8A359A4A4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Dataset and approach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7A169D-57CE-B237-B2A6-E7B5B2E0D2CE}"/>
              </a:ext>
            </a:extLst>
          </p:cNvPr>
          <p:cNvSpPr txBox="1"/>
          <p:nvPr/>
        </p:nvSpPr>
        <p:spPr>
          <a:xfrm>
            <a:off x="752478" y="1275576"/>
            <a:ext cx="534352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EDA &amp; Data quality checks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Text Preprocessing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Vectorization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Modeling: 3 phases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Phase 1: Basic comparison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Phase 2: With features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Phase 3: Hyperparameter tuning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 Evaluation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Summary</a:t>
            </a: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91" name="Graphic 90" descr="Badge 4 with solid fill">
            <a:extLst>
              <a:ext uri="{FF2B5EF4-FFF2-40B4-BE49-F238E27FC236}">
                <a16:creationId xmlns:a16="http://schemas.microsoft.com/office/drawing/2014/main" id="{1F62493D-AD1D-5826-267F-34A70D4DC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709" y="2763558"/>
            <a:ext cx="602244" cy="602244"/>
          </a:xfrm>
          <a:prstGeom prst="rect">
            <a:avLst/>
          </a:prstGeom>
        </p:spPr>
      </p:pic>
      <p:pic>
        <p:nvPicPr>
          <p:cNvPr id="95" name="Graphic 94" descr="Badge with solid fill">
            <a:extLst>
              <a:ext uri="{FF2B5EF4-FFF2-40B4-BE49-F238E27FC236}">
                <a16:creationId xmlns:a16="http://schemas.microsoft.com/office/drawing/2014/main" id="{7FD62007-EE6D-FFB4-C59B-49B180DED5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709" y="1718445"/>
            <a:ext cx="602244" cy="602244"/>
          </a:xfrm>
          <a:prstGeom prst="rect">
            <a:avLst/>
          </a:prstGeom>
        </p:spPr>
      </p:pic>
      <p:pic>
        <p:nvPicPr>
          <p:cNvPr id="97" name="Graphic 96" descr="Badge 3 with solid fill">
            <a:extLst>
              <a:ext uri="{FF2B5EF4-FFF2-40B4-BE49-F238E27FC236}">
                <a16:creationId xmlns:a16="http://schemas.microsoft.com/office/drawing/2014/main" id="{AF5A26A2-1140-002B-4456-988E2B914A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709" y="2230438"/>
            <a:ext cx="602244" cy="602244"/>
          </a:xfrm>
          <a:prstGeom prst="rect">
            <a:avLst/>
          </a:prstGeom>
        </p:spPr>
      </p:pic>
      <p:pic>
        <p:nvPicPr>
          <p:cNvPr id="99" name="Graphic 98" descr="Badge 1 with solid fill">
            <a:extLst>
              <a:ext uri="{FF2B5EF4-FFF2-40B4-BE49-F238E27FC236}">
                <a16:creationId xmlns:a16="http://schemas.microsoft.com/office/drawing/2014/main" id="{6147439B-F7AB-C72C-3D70-834A4CF998F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709" y="1197994"/>
            <a:ext cx="602244" cy="602244"/>
          </a:xfrm>
          <a:prstGeom prst="rect">
            <a:avLst/>
          </a:prstGeom>
        </p:spPr>
      </p:pic>
      <p:pic>
        <p:nvPicPr>
          <p:cNvPr id="101" name="Graphic 100" descr="Badge 5 with solid fill">
            <a:extLst>
              <a:ext uri="{FF2B5EF4-FFF2-40B4-BE49-F238E27FC236}">
                <a16:creationId xmlns:a16="http://schemas.microsoft.com/office/drawing/2014/main" id="{820E782E-C64C-14E5-1EC7-913254FFC1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709" y="4799106"/>
            <a:ext cx="602244" cy="602244"/>
          </a:xfrm>
          <a:prstGeom prst="rect">
            <a:avLst/>
          </a:prstGeom>
        </p:spPr>
      </p:pic>
      <p:pic>
        <p:nvPicPr>
          <p:cNvPr id="109" name="Graphic 108" descr="Badge 6 with solid fill">
            <a:extLst>
              <a:ext uri="{FF2B5EF4-FFF2-40B4-BE49-F238E27FC236}">
                <a16:creationId xmlns:a16="http://schemas.microsoft.com/office/drawing/2014/main" id="{E88B33D0-6DED-6698-962E-E8DF9A6957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3083" y="5384492"/>
            <a:ext cx="587497" cy="587497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6951E740-6514-039F-704F-7D6211A8DCDE}"/>
              </a:ext>
            </a:extLst>
          </p:cNvPr>
          <p:cNvSpPr/>
          <p:nvPr/>
        </p:nvSpPr>
        <p:spPr>
          <a:xfrm>
            <a:off x="6194434" y="1292667"/>
            <a:ext cx="4941883" cy="3586157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8E03F4E-5C87-F390-CB5D-20BE18FB2964}"/>
              </a:ext>
            </a:extLst>
          </p:cNvPr>
          <p:cNvSpPr txBox="1"/>
          <p:nvPr/>
        </p:nvSpPr>
        <p:spPr>
          <a:xfrm>
            <a:off x="6385395" y="1493282"/>
            <a:ext cx="409210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/>
                </a:solidFill>
              </a:rPr>
              <a:t>Dataset at a glance: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34,152</a:t>
            </a:r>
            <a:r>
              <a:rPr lang="en-US" sz="2000" dirty="0">
                <a:solidFill>
                  <a:schemeClr val="bg1"/>
                </a:solidFill>
              </a:rPr>
              <a:t> headlines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 columns after split: label + headline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Label distribution: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17,572</a:t>
            </a:r>
            <a:r>
              <a:rPr lang="en-US" sz="2000" dirty="0">
                <a:solidFill>
                  <a:schemeClr val="bg1"/>
                </a:solidFill>
              </a:rPr>
              <a:t> fake (label 0) vs </a:t>
            </a:r>
            <a:r>
              <a:rPr lang="en-US" sz="2000" b="1" dirty="0">
                <a:solidFill>
                  <a:schemeClr val="bg1"/>
                </a:solidFill>
              </a:rPr>
              <a:t>16,580</a:t>
            </a:r>
            <a:r>
              <a:rPr lang="en-US" sz="2000" dirty="0">
                <a:solidFill>
                  <a:schemeClr val="bg1"/>
                </a:solidFill>
              </a:rPr>
              <a:t> real (label 1)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</a:rPr>
              <a:t> null values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1,946</a:t>
            </a:r>
            <a:r>
              <a:rPr lang="en-US" sz="2000" dirty="0">
                <a:solidFill>
                  <a:schemeClr val="bg1"/>
                </a:solidFill>
              </a:rPr>
              <a:t> duplicated headlines</a:t>
            </a:r>
          </a:p>
        </p:txBody>
      </p:sp>
      <p:pic>
        <p:nvPicPr>
          <p:cNvPr id="114" name="Picture 113" descr="A close-up of a graph&#10;&#10;AI-generated content may be incorrect.">
            <a:extLst>
              <a:ext uri="{FF2B5EF4-FFF2-40B4-BE49-F238E27FC236}">
                <a16:creationId xmlns:a16="http://schemas.microsoft.com/office/drawing/2014/main" id="{76996F23-A0A8-C3AA-AC5C-3CF8301A3CA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32687" b="10136"/>
          <a:stretch>
            <a:fillRect/>
          </a:stretch>
        </p:blipFill>
        <p:spPr>
          <a:xfrm>
            <a:off x="6145216" y="5003239"/>
            <a:ext cx="5040317" cy="161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31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6183-D79B-BF5F-D22D-E93DCA12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BF037-E17D-F9D3-A3E3-4A9967C1E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1" y="375490"/>
            <a:ext cx="9958339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EDA signals: duplicates &amp; headline length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29384C-7B2C-3ADE-D03D-3EB2C7F04F93}"/>
              </a:ext>
            </a:extLst>
          </p:cNvPr>
          <p:cNvSpPr txBox="1"/>
          <p:nvPr/>
        </p:nvSpPr>
        <p:spPr>
          <a:xfrm>
            <a:off x="6192842" y="1252723"/>
            <a:ext cx="5132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Headline length (characters)</a:t>
            </a:r>
            <a:endParaRPr lang="ru-RU" sz="2400" b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9FE9F1-FEA0-7401-AFC4-FEC1F4219230}"/>
              </a:ext>
            </a:extLst>
          </p:cNvPr>
          <p:cNvSpPr txBox="1"/>
          <p:nvPr/>
        </p:nvSpPr>
        <p:spPr>
          <a:xfrm>
            <a:off x="518960" y="1252723"/>
            <a:ext cx="5362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Duplicates</a:t>
            </a:r>
            <a:endParaRPr lang="ru-RU" sz="2400" b="1" dirty="0">
              <a:solidFill>
                <a:schemeClr val="accent1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E097E68-F07A-1BA7-6BE4-34623B9F0FC7}"/>
              </a:ext>
            </a:extLst>
          </p:cNvPr>
          <p:cNvGrpSpPr/>
          <p:nvPr/>
        </p:nvGrpSpPr>
        <p:grpSpPr>
          <a:xfrm>
            <a:off x="518960" y="6334350"/>
            <a:ext cx="11435617" cy="461664"/>
            <a:chOff x="518960" y="6334350"/>
            <a:chExt cx="11435617" cy="461664"/>
          </a:xfrm>
        </p:grpSpPr>
        <p:sp>
          <p:nvSpPr>
            <p:cNvPr id="15" name="Rounded Rectangle 20">
              <a:extLst>
                <a:ext uri="{FF2B5EF4-FFF2-40B4-BE49-F238E27FC236}">
                  <a16:creationId xmlns:a16="http://schemas.microsoft.com/office/drawing/2014/main" id="{A9D736A5-6D52-F95E-01B4-4FEC99153C66}"/>
                </a:ext>
              </a:extLst>
            </p:cNvPr>
            <p:cNvSpPr/>
            <p:nvPr/>
          </p:nvSpPr>
          <p:spPr>
            <a:xfrm>
              <a:off x="518960" y="6334350"/>
              <a:ext cx="11435617" cy="46166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B51BA6E-3EBC-E39A-4477-3297DCC0D996}"/>
                </a:ext>
              </a:extLst>
            </p:cNvPr>
            <p:cNvSpPr txBox="1"/>
            <p:nvPr/>
          </p:nvSpPr>
          <p:spPr>
            <a:xfrm>
              <a:off x="644768" y="6365127"/>
              <a:ext cx="107765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>
                      <a:lumMod val="75000"/>
                    </a:schemeClr>
                  </a:solidFill>
                  <a:sym typeface="Wingdings" panose="05000000000000000000" pitchFamily="2" charset="2"/>
                </a:rPr>
                <a:t>→ Engineered features used</a:t>
              </a:r>
              <a:r>
                <a:rPr lang="en-US" sz="2000" dirty="0">
                  <a:solidFill>
                    <a:schemeClr val="bg1"/>
                  </a:solidFill>
                  <a:sym typeface="Wingdings" panose="05000000000000000000" pitchFamily="2" charset="2"/>
                </a:rPr>
                <a:t>: </a:t>
              </a:r>
              <a:r>
                <a:rPr lang="en-US" sz="20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ꞏ </a:t>
              </a:r>
              <a:r>
                <a:rPr lang="en-US" sz="2000" dirty="0" err="1">
                  <a:solidFill>
                    <a:schemeClr val="bg2"/>
                  </a:solidFill>
                  <a:sym typeface="Wingdings" panose="05000000000000000000" pitchFamily="2" charset="2"/>
                </a:rPr>
                <a:t>duplication_count</a:t>
              </a:r>
              <a:r>
                <a:rPr lang="en-US" sz="2000" dirty="0">
                  <a:solidFill>
                    <a:schemeClr val="bg2"/>
                  </a:solidFill>
                  <a:sym typeface="Wingdings" panose="05000000000000000000" pitchFamily="2" charset="2"/>
                </a:rPr>
                <a:t>, 		</a:t>
              </a:r>
              <a:r>
                <a:rPr lang="en-US" sz="20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ꞏ </a:t>
              </a:r>
              <a:r>
                <a:rPr lang="en-US" sz="2000" dirty="0" err="1">
                  <a:solidFill>
                    <a:schemeClr val="bg2"/>
                  </a:solidFill>
                  <a:sym typeface="Wingdings" panose="05000000000000000000" pitchFamily="2" charset="2"/>
                </a:rPr>
                <a:t>headline_length</a:t>
              </a:r>
              <a:r>
                <a:rPr lang="en-US" sz="2000" dirty="0">
                  <a:solidFill>
                    <a:schemeClr val="bg2"/>
                  </a:solidFill>
                  <a:sym typeface="Wingdings" panose="05000000000000000000" pitchFamily="2" charset="2"/>
                </a:rPr>
                <a:t>, 		</a:t>
              </a:r>
              <a:r>
                <a:rPr lang="en-US" sz="2000" b="1" dirty="0">
                  <a:solidFill>
                    <a:schemeClr val="bg1"/>
                  </a:solidFill>
                  <a:sym typeface="Wingdings" panose="05000000000000000000" pitchFamily="2" charset="2"/>
                </a:rPr>
                <a:t>ꞏ </a:t>
              </a:r>
              <a:r>
                <a:rPr lang="en-US" sz="2000" dirty="0" err="1">
                  <a:solidFill>
                    <a:schemeClr val="bg2"/>
                  </a:solidFill>
                  <a:sym typeface="Wingdings" panose="05000000000000000000" pitchFamily="2" charset="2"/>
                </a:rPr>
                <a:t>word_count</a:t>
              </a:r>
              <a:endParaRPr lang="ru-RU" sz="2000" dirty="0">
                <a:solidFill>
                  <a:schemeClr val="bg2"/>
                </a:solidFill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7E9EE09-7CEC-FDEB-59FD-BB062F70312F}"/>
              </a:ext>
            </a:extLst>
          </p:cNvPr>
          <p:cNvSpPr txBox="1"/>
          <p:nvPr/>
        </p:nvSpPr>
        <p:spPr>
          <a:xfrm>
            <a:off x="7632650" y="2812540"/>
            <a:ext cx="1295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Difference in variability: p&lt;0.0001 (Levene’s test)</a:t>
            </a:r>
            <a:endParaRPr lang="ru-RU" sz="1400" dirty="0">
              <a:solidFill>
                <a:schemeClr val="bg1"/>
              </a:solidFill>
            </a:endParaRPr>
          </a:p>
        </p:txBody>
      </p:sp>
      <p:pic>
        <p:nvPicPr>
          <p:cNvPr id="37" name="Picture 36" descr="A graph of a number of different colored lines&#10;&#10;AI-generated content may be incorrect.">
            <a:extLst>
              <a:ext uri="{FF2B5EF4-FFF2-40B4-BE49-F238E27FC236}">
                <a16:creationId xmlns:a16="http://schemas.microsoft.com/office/drawing/2014/main" id="{3450CC2F-F582-9FCA-09A5-3F8512626E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74" r="49558"/>
          <a:stretch>
            <a:fillRect/>
          </a:stretch>
        </p:blipFill>
        <p:spPr>
          <a:xfrm>
            <a:off x="6933126" y="1660655"/>
            <a:ext cx="3784302" cy="407247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6B521CF3-607B-F49B-10EF-7D3EDBC29E9A}"/>
              </a:ext>
            </a:extLst>
          </p:cNvPr>
          <p:cNvGrpSpPr/>
          <p:nvPr/>
        </p:nvGrpSpPr>
        <p:grpSpPr>
          <a:xfrm>
            <a:off x="592801" y="1784484"/>
            <a:ext cx="3721201" cy="3887653"/>
            <a:chOff x="962276" y="2100285"/>
            <a:chExt cx="3721201" cy="3887653"/>
          </a:xfrm>
        </p:grpSpPr>
        <p:pic>
          <p:nvPicPr>
            <p:cNvPr id="35" name="Picture 34" descr="A graph of a few columns&#10;&#10;AI-generated content may be incorrect.">
              <a:extLst>
                <a:ext uri="{FF2B5EF4-FFF2-40B4-BE49-F238E27FC236}">
                  <a16:creationId xmlns:a16="http://schemas.microsoft.com/office/drawing/2014/main" id="{1BC1E2A9-8CD7-8CC3-4C76-242FE5C34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9966" t="9165"/>
            <a:stretch>
              <a:fillRect/>
            </a:stretch>
          </p:blipFill>
          <p:spPr>
            <a:xfrm>
              <a:off x="962276" y="2100285"/>
              <a:ext cx="3721201" cy="3824816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722772B-C565-6516-6E98-9D9D14CCF869}"/>
                </a:ext>
              </a:extLst>
            </p:cNvPr>
            <p:cNvSpPr txBox="1"/>
            <p:nvPr/>
          </p:nvSpPr>
          <p:spPr>
            <a:xfrm>
              <a:off x="1905000" y="2168429"/>
              <a:ext cx="590550" cy="307777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1,547</a:t>
              </a:r>
              <a:endParaRPr lang="ru-RU" sz="1400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E962701-3CAA-0F9A-C96D-00F858AA5752}"/>
                </a:ext>
              </a:extLst>
            </p:cNvPr>
            <p:cNvSpPr txBox="1"/>
            <p:nvPr/>
          </p:nvSpPr>
          <p:spPr>
            <a:xfrm>
              <a:off x="3581400" y="4593029"/>
              <a:ext cx="590550" cy="307777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399</a:t>
              </a:r>
              <a:endParaRPr lang="ru-RU" sz="14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9DA2F20-2FF5-3A03-0320-9C053EA175DE}"/>
                </a:ext>
              </a:extLst>
            </p:cNvPr>
            <p:cNvSpPr/>
            <p:nvPr/>
          </p:nvSpPr>
          <p:spPr>
            <a:xfrm>
              <a:off x="1905000" y="5762625"/>
              <a:ext cx="590550" cy="14285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BB1B4C0-34BB-10A4-1089-91EA8EDAA93F}"/>
                </a:ext>
              </a:extLst>
            </p:cNvPr>
            <p:cNvSpPr/>
            <p:nvPr/>
          </p:nvSpPr>
          <p:spPr>
            <a:xfrm>
              <a:off x="3594586" y="5777451"/>
              <a:ext cx="590550" cy="14285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1E6CD6-A170-A59F-F23F-C81AD2C5AC1D}"/>
                </a:ext>
              </a:extLst>
            </p:cNvPr>
            <p:cNvSpPr txBox="1"/>
            <p:nvPr/>
          </p:nvSpPr>
          <p:spPr>
            <a:xfrm>
              <a:off x="1672266" y="5680161"/>
              <a:ext cx="10179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Fake News</a:t>
              </a:r>
              <a:endParaRPr lang="ru-RU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74CF5B3-4A0B-AE98-E2E2-3773E468F17E}"/>
                </a:ext>
              </a:extLst>
            </p:cNvPr>
            <p:cNvSpPr txBox="1"/>
            <p:nvPr/>
          </p:nvSpPr>
          <p:spPr>
            <a:xfrm>
              <a:off x="3400173" y="5680161"/>
              <a:ext cx="10179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Real News</a:t>
              </a:r>
              <a:endParaRPr lang="ru-RU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1B40B1F8-7A0F-FDC6-3ABE-66C3E751F047}"/>
              </a:ext>
            </a:extLst>
          </p:cNvPr>
          <p:cNvSpPr txBox="1"/>
          <p:nvPr/>
        </p:nvSpPr>
        <p:spPr>
          <a:xfrm>
            <a:off x="518960" y="5725840"/>
            <a:ext cx="527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5.7% duplicated overall (1,946 / 34,152)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79.5% of duplicates are fake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B11000C-4B31-7DA7-D916-59B6DF724002}"/>
              </a:ext>
            </a:extLst>
          </p:cNvPr>
          <p:cNvSpPr txBox="1"/>
          <p:nvPr/>
        </p:nvSpPr>
        <p:spPr>
          <a:xfrm>
            <a:off x="6254582" y="5725840"/>
            <a:ext cx="5274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Fake news are longer + more variable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characters (length) and words (count)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7B672B1-C855-B763-E473-366941A79E2B}"/>
              </a:ext>
            </a:extLst>
          </p:cNvPr>
          <p:cNvSpPr txBox="1"/>
          <p:nvPr/>
        </p:nvSpPr>
        <p:spPr>
          <a:xfrm>
            <a:off x="8759033" y="2253237"/>
            <a:ext cx="1712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Fake: 83.3 ± 27.2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1CC2955-F992-1CC6-77FC-71C57D234134}"/>
              </a:ext>
            </a:extLst>
          </p:cNvPr>
          <p:cNvCxnSpPr/>
          <p:nvPr/>
        </p:nvCxnSpPr>
        <p:spPr>
          <a:xfrm flipH="1">
            <a:off x="8585735" y="2531444"/>
            <a:ext cx="399490" cy="281096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9A8056C-3902-4AD4-D4CE-DB873365FE55}"/>
              </a:ext>
            </a:extLst>
          </p:cNvPr>
          <p:cNvSpPr txBox="1"/>
          <p:nvPr/>
        </p:nvSpPr>
        <p:spPr>
          <a:xfrm>
            <a:off x="6839356" y="2597943"/>
            <a:ext cx="1712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Real: 64.6 ± 9.1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177C173-322C-7DA5-63BC-69AB5809661E}"/>
              </a:ext>
            </a:extLst>
          </p:cNvPr>
          <p:cNvCxnSpPr>
            <a:cxnSpLocks/>
          </p:cNvCxnSpPr>
          <p:nvPr/>
        </p:nvCxnSpPr>
        <p:spPr>
          <a:xfrm>
            <a:off x="7883091" y="2943468"/>
            <a:ext cx="170712" cy="387528"/>
          </a:xfrm>
          <a:prstGeom prst="straightConnector1">
            <a:avLst/>
          </a:prstGeom>
          <a:ln>
            <a:solidFill>
              <a:schemeClr val="accent1"/>
            </a:solidFill>
            <a:tailEnd type="arrow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88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998E-8ADD-B324-DD47-9DC7291DC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44F3-CEA9-B4D2-3CF1-3B20F3D70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 err="1">
                <a:solidFill>
                  <a:schemeClr val="bg1"/>
                </a:solidFill>
              </a:rPr>
              <a:t>Stopwords</a:t>
            </a:r>
            <a:r>
              <a:rPr lang="en-US" sz="3600" b="1" dirty="0">
                <a:solidFill>
                  <a:schemeClr val="bg1"/>
                </a:solidFill>
              </a:rPr>
              <a:t> as signal: count + key words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96E8B4-5478-39C5-8C83-7B9B59F95368}"/>
              </a:ext>
            </a:extLst>
          </p:cNvPr>
          <p:cNvSpPr txBox="1"/>
          <p:nvPr/>
        </p:nvSpPr>
        <p:spPr>
          <a:xfrm>
            <a:off x="511194" y="1200653"/>
            <a:ext cx="10594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B7280"/>
                </a:solidFill>
              </a:rPr>
              <a:t>Takeaway: </a:t>
            </a:r>
            <a:r>
              <a:rPr lang="en-US" dirty="0">
                <a:solidFill>
                  <a:srgbClr val="6B7280"/>
                </a:solidFill>
              </a:rPr>
              <a:t>Fake headlines contain ~</a:t>
            </a:r>
            <a:r>
              <a:rPr lang="en-US" b="1" dirty="0">
                <a:solidFill>
                  <a:srgbClr val="6B7280"/>
                </a:solidFill>
              </a:rPr>
              <a:t>1.8</a:t>
            </a:r>
            <a:r>
              <a:rPr lang="en-US" dirty="0">
                <a:solidFill>
                  <a:srgbClr val="6B7280"/>
                </a:solidFill>
              </a:rPr>
              <a:t>x more </a:t>
            </a:r>
            <a:r>
              <a:rPr lang="en-US" dirty="0" err="1">
                <a:solidFill>
                  <a:srgbClr val="6B7280"/>
                </a:solidFill>
              </a:rPr>
              <a:t>stopwords</a:t>
            </a:r>
            <a:r>
              <a:rPr lang="en-US" dirty="0">
                <a:solidFill>
                  <a:srgbClr val="6B7280"/>
                </a:solidFill>
              </a:rPr>
              <a:t> (mean </a:t>
            </a:r>
            <a:r>
              <a:rPr lang="en-US" b="1" dirty="0">
                <a:solidFill>
                  <a:srgbClr val="6B7280"/>
                </a:solidFill>
              </a:rPr>
              <a:t>4.23</a:t>
            </a:r>
            <a:r>
              <a:rPr lang="en-US" dirty="0">
                <a:solidFill>
                  <a:srgbClr val="6B7280"/>
                </a:solidFill>
              </a:rPr>
              <a:t> vs </a:t>
            </a:r>
            <a:r>
              <a:rPr lang="en-US" b="1" dirty="0">
                <a:solidFill>
                  <a:srgbClr val="6B7280"/>
                </a:solidFill>
              </a:rPr>
              <a:t>2.32</a:t>
            </a:r>
            <a:r>
              <a:rPr lang="en-US" dirty="0">
                <a:solidFill>
                  <a:srgbClr val="6B7280"/>
                </a:solidFill>
              </a:rPr>
              <a:t>) </a:t>
            </a:r>
          </a:p>
          <a:p>
            <a:r>
              <a:rPr lang="en-US" dirty="0">
                <a:solidFill>
                  <a:srgbClr val="6B7280"/>
                </a:solidFill>
                <a:sym typeface="Wingdings" panose="05000000000000000000" pitchFamily="2" charset="2"/>
              </a:rPr>
              <a:t> we keep high signal </a:t>
            </a:r>
            <a:r>
              <a:rPr lang="en-US" dirty="0" err="1">
                <a:solidFill>
                  <a:srgbClr val="6B7280"/>
                </a:solidFill>
                <a:sym typeface="Wingdings" panose="05000000000000000000" pitchFamily="2" charset="2"/>
              </a:rPr>
              <a:t>stopwords</a:t>
            </a:r>
            <a:r>
              <a:rPr lang="en-US" dirty="0">
                <a:solidFill>
                  <a:srgbClr val="6B7280"/>
                </a:solidFill>
                <a:sym typeface="Wingdings" panose="05000000000000000000" pitchFamily="2" charset="2"/>
              </a:rPr>
              <a:t> + engineer </a:t>
            </a:r>
            <a:r>
              <a:rPr lang="en-US" dirty="0" err="1">
                <a:solidFill>
                  <a:srgbClr val="6B7280"/>
                </a:solidFill>
                <a:latin typeface="Microsoft JhengHei Light" panose="020B0304030504040204" pitchFamily="34" charset="-120"/>
                <a:ea typeface="Microsoft JhengHei Light" panose="020B0304030504040204" pitchFamily="34" charset="-120"/>
                <a:sym typeface="Wingdings" panose="05000000000000000000" pitchFamily="2" charset="2"/>
              </a:rPr>
              <a:t>stopword_count</a:t>
            </a:r>
            <a:endParaRPr lang="ru-RU" dirty="0">
              <a:solidFill>
                <a:srgbClr val="6B7280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4907D4F-CCEE-315B-D87F-682C8072CB21}"/>
              </a:ext>
            </a:extLst>
          </p:cNvPr>
          <p:cNvGrpSpPr/>
          <p:nvPr/>
        </p:nvGrpSpPr>
        <p:grpSpPr>
          <a:xfrm>
            <a:off x="655636" y="2129631"/>
            <a:ext cx="11438384" cy="4415667"/>
            <a:chOff x="655636" y="1310481"/>
            <a:chExt cx="11438384" cy="441566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2801B63-413E-7482-9C63-B818E8B33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223" y="1310481"/>
              <a:ext cx="4554107" cy="3432345"/>
            </a:xfrm>
            <a:prstGeom prst="rect">
              <a:avLst/>
            </a:prstGeom>
          </p:spPr>
        </p:pic>
        <p:sp>
          <p:nvSpPr>
            <p:cNvPr id="27" name="Rounded Rectangle 20">
              <a:extLst>
                <a:ext uri="{FF2B5EF4-FFF2-40B4-BE49-F238E27FC236}">
                  <a16:creationId xmlns:a16="http://schemas.microsoft.com/office/drawing/2014/main" id="{897C0DA9-3E38-56AF-9CA0-D317E5D83749}"/>
                </a:ext>
              </a:extLst>
            </p:cNvPr>
            <p:cNvSpPr/>
            <p:nvPr/>
          </p:nvSpPr>
          <p:spPr>
            <a:xfrm>
              <a:off x="6166063" y="5002283"/>
              <a:ext cx="5927957" cy="46166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1706753-3FF2-BF8B-DDD8-CBD4998F3FC0}"/>
                </a:ext>
              </a:extLst>
            </p:cNvPr>
            <p:cNvSpPr txBox="1"/>
            <p:nvPr/>
          </p:nvSpPr>
          <p:spPr>
            <a:xfrm>
              <a:off x="6193156" y="5018262"/>
              <a:ext cx="58943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2"/>
                  </a:solidFill>
                  <a:sym typeface="Wingdings" panose="05000000000000000000" pitchFamily="2" charset="2"/>
                </a:rPr>
                <a:t>Keep</a:t>
              </a:r>
              <a:r>
                <a:rPr lang="en-US" sz="2000" dirty="0">
                  <a:solidFill>
                    <a:schemeClr val="bg2"/>
                  </a:solidFill>
                  <a:sym typeface="Wingdings" panose="05000000000000000000" pitchFamily="2" charset="2"/>
                </a:rPr>
                <a:t>: just, very, again, not, no, never, only, even</a:t>
              </a:r>
              <a:endParaRPr lang="ru-RU" sz="2000" dirty="0">
                <a:solidFill>
                  <a:schemeClr val="bg2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A89779-6A0A-037C-717D-CF33A3256285}"/>
                </a:ext>
              </a:extLst>
            </p:cNvPr>
            <p:cNvSpPr txBox="1"/>
            <p:nvPr/>
          </p:nvSpPr>
          <p:spPr>
            <a:xfrm>
              <a:off x="655636" y="4735450"/>
              <a:ext cx="176212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p&lt;0.0001 (t-test)</a:t>
              </a:r>
              <a:endParaRPr lang="ru-RU" sz="1200" dirty="0">
                <a:solidFill>
                  <a:schemeClr val="bg1"/>
                </a:solidFill>
              </a:endParaRP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369249F-18FB-0D20-0D7C-6F771852E199}"/>
                </a:ext>
              </a:extLst>
            </p:cNvPr>
            <p:cNvGrpSpPr/>
            <p:nvPr/>
          </p:nvGrpSpPr>
          <p:grpSpPr>
            <a:xfrm>
              <a:off x="6695496" y="1349315"/>
              <a:ext cx="4554107" cy="3432345"/>
              <a:chOff x="6695496" y="1349315"/>
              <a:chExt cx="4554107" cy="3432345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F5DB4DC9-8638-D12B-5467-7D87AD405B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5496" y="1349315"/>
                <a:ext cx="4554107" cy="3432345"/>
              </a:xfrm>
              <a:prstGeom prst="rect">
                <a:avLst/>
              </a:prstGeom>
            </p:spPr>
          </p:pic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7A0EC2C9-E246-4F6D-C7E0-E9083CA8B2B4}"/>
                  </a:ext>
                </a:extLst>
              </p:cNvPr>
              <p:cNvSpPr/>
              <p:nvPr/>
            </p:nvSpPr>
            <p:spPr>
              <a:xfrm>
                <a:off x="7316422" y="4524713"/>
                <a:ext cx="3575485" cy="21675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F0A11A-058C-5F45-3F08-9775233366C7}"/>
                  </a:ext>
                </a:extLst>
              </p:cNvPr>
              <p:cNvSpPr txBox="1"/>
              <p:nvPr/>
            </p:nvSpPr>
            <p:spPr>
              <a:xfrm>
                <a:off x="7316422" y="4407310"/>
                <a:ext cx="5429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not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9906E8D-39B0-6CEC-067B-1146A7D5A5EE}"/>
                  </a:ext>
                </a:extLst>
              </p:cNvPr>
              <p:cNvSpPr txBox="1"/>
              <p:nvPr/>
            </p:nvSpPr>
            <p:spPr>
              <a:xfrm>
                <a:off x="7956910" y="4407310"/>
                <a:ext cx="5429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just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1AC2443-4F69-53DA-5945-F081CF887CAE}"/>
                  </a:ext>
                </a:extLst>
              </p:cNvPr>
              <p:cNvSpPr txBox="1"/>
              <p:nvPr/>
            </p:nvSpPr>
            <p:spPr>
              <a:xfrm>
                <a:off x="8597398" y="4407310"/>
                <a:ext cx="5429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very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5FF5ED0-D632-3745-0422-EAD734DB7E63}"/>
                  </a:ext>
                </a:extLst>
              </p:cNvPr>
              <p:cNvSpPr txBox="1"/>
              <p:nvPr/>
            </p:nvSpPr>
            <p:spPr>
              <a:xfrm>
                <a:off x="9237886" y="4407310"/>
                <a:ext cx="5429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no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167E67-2F1E-7CD9-A8B2-6957E25435B9}"/>
                  </a:ext>
                </a:extLst>
              </p:cNvPr>
              <p:cNvSpPr txBox="1"/>
              <p:nvPr/>
            </p:nvSpPr>
            <p:spPr>
              <a:xfrm>
                <a:off x="9878374" y="4407310"/>
                <a:ext cx="5429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even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017BAEC-EC5C-C3E7-C95C-D03FF23CB107}"/>
                  </a:ext>
                </a:extLst>
              </p:cNvPr>
              <p:cNvSpPr txBox="1"/>
              <p:nvPr/>
            </p:nvSpPr>
            <p:spPr>
              <a:xfrm>
                <a:off x="10518861" y="4407310"/>
                <a:ext cx="7262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chemeClr val="bg1"/>
                    </a:solidFill>
                  </a:rPr>
                  <a:t>again</a:t>
                </a:r>
                <a:endParaRPr lang="ru-RU" sz="14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01D83C6-58DE-3E29-85D2-069F251B6419}"/>
                </a:ext>
              </a:extLst>
            </p:cNvPr>
            <p:cNvSpPr/>
            <p:nvPr/>
          </p:nvSpPr>
          <p:spPr>
            <a:xfrm>
              <a:off x="682422" y="4997060"/>
              <a:ext cx="2103927" cy="696853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E5E7EB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50F135-10A7-BB49-0CCE-1B954569FB42}"/>
                </a:ext>
              </a:extLst>
            </p:cNvPr>
            <p:cNvSpPr txBox="1"/>
            <p:nvPr/>
          </p:nvSpPr>
          <p:spPr>
            <a:xfrm>
              <a:off x="680513" y="5018262"/>
              <a:ext cx="207221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Fake</a:t>
              </a:r>
              <a:r>
                <a:rPr lang="en-US" dirty="0">
                  <a:solidFill>
                    <a:schemeClr val="bg1"/>
                  </a:solidFill>
                </a:rPr>
                <a:t>: 4.23 ± 2.47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Real</a:t>
              </a:r>
              <a:r>
                <a:rPr lang="en-US" dirty="0">
                  <a:solidFill>
                    <a:schemeClr val="bg1"/>
                  </a:solidFill>
                </a:rPr>
                <a:t>: 2.32 ± 1.26</a:t>
              </a:r>
            </a:p>
          </p:txBody>
        </p:sp>
        <p:sp>
          <p:nvSpPr>
            <p:cNvPr id="39" name="Rounded Rectangle 20">
              <a:extLst>
                <a:ext uri="{FF2B5EF4-FFF2-40B4-BE49-F238E27FC236}">
                  <a16:creationId xmlns:a16="http://schemas.microsoft.com/office/drawing/2014/main" id="{0C3F4F63-C372-06EF-F1C0-9A9ED36F2CA8}"/>
                </a:ext>
              </a:extLst>
            </p:cNvPr>
            <p:cNvSpPr/>
            <p:nvPr/>
          </p:nvSpPr>
          <p:spPr>
            <a:xfrm>
              <a:off x="2895021" y="4984565"/>
              <a:ext cx="2943804" cy="70788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514A7DD-4A71-F326-4F17-A8B32208A388}"/>
                </a:ext>
              </a:extLst>
            </p:cNvPr>
            <p:cNvSpPr txBox="1"/>
            <p:nvPr/>
          </p:nvSpPr>
          <p:spPr>
            <a:xfrm>
              <a:off x="2971291" y="5018262"/>
              <a:ext cx="29762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bg2"/>
                  </a:solidFill>
                  <a:sym typeface="Wingdings" panose="05000000000000000000" pitchFamily="2" charset="2"/>
                </a:rPr>
                <a:t>Engineered feature</a:t>
              </a:r>
              <a:r>
                <a:rPr lang="en-US" sz="2000" dirty="0">
                  <a:solidFill>
                    <a:schemeClr val="bg2"/>
                  </a:solidFill>
                  <a:sym typeface="Wingdings" panose="05000000000000000000" pitchFamily="2" charset="2"/>
                </a:rPr>
                <a:t>: </a:t>
              </a:r>
              <a:r>
                <a:rPr lang="en-US" sz="2000" dirty="0" err="1">
                  <a:solidFill>
                    <a:schemeClr val="bg2"/>
                  </a:solidFill>
                  <a:latin typeface="Consolas" panose="020B0609020204030204" pitchFamily="49" charset="0"/>
                  <a:sym typeface="Wingdings" panose="05000000000000000000" pitchFamily="2" charset="2"/>
                </a:rPr>
                <a:t>stopword_count</a:t>
              </a:r>
              <a:endParaRPr lang="ru-RU" sz="2000" dirty="0">
                <a:solidFill>
                  <a:schemeClr val="bg2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3136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2A4A3-D846-26CD-77E6-EE1CC9AB9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A42D-80BE-19A1-9B76-F698A165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Text Preprocessing: hybrid approach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B6B21-7E95-1009-7510-8E56E64FA59B}"/>
              </a:ext>
            </a:extLst>
          </p:cNvPr>
          <p:cNvSpPr txBox="1"/>
          <p:nvPr/>
        </p:nvSpPr>
        <p:spPr>
          <a:xfrm>
            <a:off x="511194" y="1200653"/>
            <a:ext cx="10594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Goal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bg1"/>
                </a:solidFill>
              </a:rPr>
              <a:t>reduce noise without removing high-signal </a:t>
            </a:r>
            <a:r>
              <a:rPr lang="en-US" dirty="0" err="1">
                <a:solidFill>
                  <a:schemeClr val="bg1"/>
                </a:solidFill>
              </a:rPr>
              <a:t>stopwords</a:t>
            </a:r>
            <a:endParaRPr lang="ru-RU" dirty="0">
              <a:solidFill>
                <a:schemeClr val="bg1"/>
              </a:solidFill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31DF30-A455-9375-6EB2-53393DF40189}"/>
              </a:ext>
            </a:extLst>
          </p:cNvPr>
          <p:cNvSpPr/>
          <p:nvPr/>
        </p:nvSpPr>
        <p:spPr>
          <a:xfrm>
            <a:off x="6521450" y="2226156"/>
            <a:ext cx="5060931" cy="3316340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4DF43-B7FE-7C96-91CA-9A81987C2B43}"/>
              </a:ext>
            </a:extLst>
          </p:cNvPr>
          <p:cNvSpPr txBox="1"/>
          <p:nvPr/>
        </p:nvSpPr>
        <p:spPr>
          <a:xfrm>
            <a:off x="6665915" y="2370562"/>
            <a:ext cx="394335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BEFORE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 AFTER (example)</a:t>
            </a:r>
            <a:endParaRPr lang="en-US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Original: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111827"/>
                </a:solidFill>
              </a:rPr>
              <a:t>“Better policies are needed for better results”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accent1"/>
                </a:solidFill>
              </a:rPr>
              <a:t>Processed:</a:t>
            </a: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bg1"/>
                </a:solidFill>
              </a:rPr>
              <a:t>“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good policy be need for good result</a:t>
            </a:r>
            <a:r>
              <a:rPr lang="en-US" dirty="0">
                <a:solidFill>
                  <a:schemeClr val="bg1"/>
                </a:solidFill>
              </a:rPr>
              <a:t>”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89A050-9F65-C4F7-185F-6D66FA5C96F8}"/>
              </a:ext>
            </a:extLst>
          </p:cNvPr>
          <p:cNvSpPr txBox="1"/>
          <p:nvPr/>
        </p:nvSpPr>
        <p:spPr>
          <a:xfrm>
            <a:off x="511194" y="1699308"/>
            <a:ext cx="3943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accent1"/>
                </a:solidFill>
              </a:rPr>
              <a:t>Pipeline (5 steps):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EA6F532-4216-8159-8B43-34A47B9FD787}"/>
              </a:ext>
            </a:extLst>
          </p:cNvPr>
          <p:cNvGrpSpPr/>
          <p:nvPr/>
        </p:nvGrpSpPr>
        <p:grpSpPr>
          <a:xfrm>
            <a:off x="511194" y="2226156"/>
            <a:ext cx="4687888" cy="471339"/>
            <a:chOff x="511194" y="2226156"/>
            <a:chExt cx="4687888" cy="47133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61EF9E-0388-470D-D80F-BD6738A9A7A3}"/>
                </a:ext>
              </a:extLst>
            </p:cNvPr>
            <p:cNvGrpSpPr/>
            <p:nvPr/>
          </p:nvGrpSpPr>
          <p:grpSpPr>
            <a:xfrm>
              <a:off x="511194" y="2226156"/>
              <a:ext cx="4687888" cy="471339"/>
              <a:chOff x="3708399" y="5512593"/>
              <a:chExt cx="4687888" cy="471339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BCA47387-19A2-EC8C-6CDD-B0BB1F041A0A}"/>
                  </a:ext>
                </a:extLst>
              </p:cNvPr>
              <p:cNvSpPr/>
              <p:nvPr/>
            </p:nvSpPr>
            <p:spPr>
              <a:xfrm>
                <a:off x="3708399" y="5522267"/>
                <a:ext cx="4687888" cy="461665"/>
              </a:xfrm>
              <a:prstGeom prst="roundRect">
                <a:avLst/>
              </a:prstGeom>
              <a:solidFill>
                <a:srgbClr val="EFF6FF"/>
              </a:solidFill>
              <a:ln w="16510">
                <a:solidFill>
                  <a:srgbClr val="1D4ED8"/>
                </a:solidFill>
              </a:ln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C6F5E79-9B51-680C-54CD-8D0A175DE7CE}"/>
                  </a:ext>
                </a:extLst>
              </p:cNvPr>
              <p:cNvSpPr/>
              <p:nvPr/>
            </p:nvSpPr>
            <p:spPr>
              <a:xfrm>
                <a:off x="3763962" y="5531643"/>
                <a:ext cx="442912" cy="442912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BC33A4F-61C4-948A-FC53-E3058385FB1F}"/>
                  </a:ext>
                </a:extLst>
              </p:cNvPr>
              <p:cNvSpPr txBox="1"/>
              <p:nvPr/>
            </p:nvSpPr>
            <p:spPr>
              <a:xfrm>
                <a:off x="3806824" y="5512593"/>
                <a:ext cx="4000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1</a:t>
                </a:r>
                <a:endParaRPr lang="ru-RU" sz="2400" b="1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28BBC24-4071-7541-FB64-118198E96094}"/>
                </a:ext>
              </a:extLst>
            </p:cNvPr>
            <p:cNvSpPr txBox="1"/>
            <p:nvPr/>
          </p:nvSpPr>
          <p:spPr>
            <a:xfrm>
              <a:off x="1099343" y="2277159"/>
              <a:ext cx="394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Lowercase + strip URLs/ email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7FDAD0D-4548-778A-1E13-666C4B71D614}"/>
              </a:ext>
            </a:extLst>
          </p:cNvPr>
          <p:cNvGrpSpPr/>
          <p:nvPr/>
        </p:nvGrpSpPr>
        <p:grpSpPr>
          <a:xfrm>
            <a:off x="511194" y="2804006"/>
            <a:ext cx="4687888" cy="471339"/>
            <a:chOff x="511194" y="2794918"/>
            <a:chExt cx="4687888" cy="47133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206373A-8D33-266B-6D2B-EA2E2895280D}"/>
                </a:ext>
              </a:extLst>
            </p:cNvPr>
            <p:cNvGrpSpPr/>
            <p:nvPr/>
          </p:nvGrpSpPr>
          <p:grpSpPr>
            <a:xfrm>
              <a:off x="511194" y="2794918"/>
              <a:ext cx="4687888" cy="471339"/>
              <a:chOff x="3708399" y="5512593"/>
              <a:chExt cx="4687888" cy="471339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EE0FD3A8-50C2-3178-79B8-A79EE4F3072A}"/>
                  </a:ext>
                </a:extLst>
              </p:cNvPr>
              <p:cNvSpPr/>
              <p:nvPr/>
            </p:nvSpPr>
            <p:spPr>
              <a:xfrm>
                <a:off x="3708399" y="5522267"/>
                <a:ext cx="4687888" cy="461665"/>
              </a:xfrm>
              <a:prstGeom prst="roundRect">
                <a:avLst/>
              </a:prstGeom>
              <a:solidFill>
                <a:srgbClr val="EFF6FF"/>
              </a:solidFill>
              <a:ln w="16510">
                <a:solidFill>
                  <a:srgbClr val="1D4ED8"/>
                </a:solidFill>
              </a:ln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F709DD7-003C-8B14-A673-3C933CF82E81}"/>
                  </a:ext>
                </a:extLst>
              </p:cNvPr>
              <p:cNvSpPr/>
              <p:nvPr/>
            </p:nvSpPr>
            <p:spPr>
              <a:xfrm>
                <a:off x="3763962" y="5531643"/>
                <a:ext cx="442912" cy="442912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42F8FD9-BFF9-3A46-296A-2CD29E8FAA1D}"/>
                  </a:ext>
                </a:extLst>
              </p:cNvPr>
              <p:cNvSpPr txBox="1"/>
              <p:nvPr/>
            </p:nvSpPr>
            <p:spPr>
              <a:xfrm>
                <a:off x="3806824" y="5512593"/>
                <a:ext cx="4000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2</a:t>
                </a:r>
                <a:endParaRPr lang="ru-RU" sz="2400" b="1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C83F5E4-AFCE-FE12-4847-E798BB751408}"/>
                </a:ext>
              </a:extLst>
            </p:cNvPr>
            <p:cNvSpPr txBox="1"/>
            <p:nvPr/>
          </p:nvSpPr>
          <p:spPr>
            <a:xfrm>
              <a:off x="1099343" y="2845921"/>
              <a:ext cx="394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Replace punctuation</a:t>
              </a:r>
              <a:r>
                <a:rPr lang="en-US" dirty="0">
                  <a:solidFill>
                    <a:schemeClr val="bg1"/>
                  </a:solidFill>
                  <a:sym typeface="Wingdings" panose="05000000000000000000" pitchFamily="2" charset="2"/>
                </a:rPr>
                <a:t> spaces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27EA2FA-DCAC-E80A-A8BF-FFC628908879}"/>
              </a:ext>
            </a:extLst>
          </p:cNvPr>
          <p:cNvGrpSpPr/>
          <p:nvPr/>
        </p:nvGrpSpPr>
        <p:grpSpPr>
          <a:xfrm>
            <a:off x="511194" y="3381856"/>
            <a:ext cx="4687888" cy="471339"/>
            <a:chOff x="511194" y="3418657"/>
            <a:chExt cx="4687888" cy="47133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2683616-C87F-F0A1-F787-8DE77F153DF8}"/>
                </a:ext>
              </a:extLst>
            </p:cNvPr>
            <p:cNvGrpSpPr/>
            <p:nvPr/>
          </p:nvGrpSpPr>
          <p:grpSpPr>
            <a:xfrm>
              <a:off x="511194" y="3418657"/>
              <a:ext cx="4687888" cy="471339"/>
              <a:chOff x="3708399" y="5512593"/>
              <a:chExt cx="4687888" cy="471339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BE9AA57-E05A-4A63-B4F1-39F44070E1BE}"/>
                  </a:ext>
                </a:extLst>
              </p:cNvPr>
              <p:cNvSpPr/>
              <p:nvPr/>
            </p:nvSpPr>
            <p:spPr>
              <a:xfrm>
                <a:off x="3708399" y="5522267"/>
                <a:ext cx="4687888" cy="461665"/>
              </a:xfrm>
              <a:prstGeom prst="roundRect">
                <a:avLst/>
              </a:prstGeom>
              <a:solidFill>
                <a:srgbClr val="EFF6FF"/>
              </a:solidFill>
              <a:ln w="16510">
                <a:solidFill>
                  <a:srgbClr val="1D4ED8"/>
                </a:solidFill>
              </a:ln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461A262-FB4E-AED6-28A0-86E703AA9EE2}"/>
                  </a:ext>
                </a:extLst>
              </p:cNvPr>
              <p:cNvSpPr/>
              <p:nvPr/>
            </p:nvSpPr>
            <p:spPr>
              <a:xfrm>
                <a:off x="3763962" y="5531643"/>
                <a:ext cx="442912" cy="442912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CCDDD3D-BB5B-66D7-63D8-F5CF8E57D79C}"/>
                  </a:ext>
                </a:extLst>
              </p:cNvPr>
              <p:cNvSpPr txBox="1"/>
              <p:nvPr/>
            </p:nvSpPr>
            <p:spPr>
              <a:xfrm>
                <a:off x="3806824" y="5512593"/>
                <a:ext cx="4000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3</a:t>
                </a:r>
                <a:endParaRPr lang="ru-RU" sz="2400" b="1" dirty="0"/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177E179-A255-6E01-D63F-D9EC1255120A}"/>
                </a:ext>
              </a:extLst>
            </p:cNvPr>
            <p:cNvSpPr txBox="1"/>
            <p:nvPr/>
          </p:nvSpPr>
          <p:spPr>
            <a:xfrm>
              <a:off x="1099343" y="3469660"/>
              <a:ext cx="3943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Tokenize (split into words)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A002C0F-49E1-C296-88AD-AA3948F9A0AA}"/>
              </a:ext>
            </a:extLst>
          </p:cNvPr>
          <p:cNvGrpSpPr/>
          <p:nvPr/>
        </p:nvGrpSpPr>
        <p:grpSpPr>
          <a:xfrm>
            <a:off x="511194" y="3959706"/>
            <a:ext cx="4687888" cy="732077"/>
            <a:chOff x="511194" y="3995303"/>
            <a:chExt cx="4687888" cy="73207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D3EB8B8-1CDE-7B93-0F34-6B90E94C3F38}"/>
                </a:ext>
              </a:extLst>
            </p:cNvPr>
            <p:cNvGrpSpPr/>
            <p:nvPr/>
          </p:nvGrpSpPr>
          <p:grpSpPr>
            <a:xfrm>
              <a:off x="511194" y="3995303"/>
              <a:ext cx="4687888" cy="732077"/>
              <a:chOff x="3708399" y="5512593"/>
              <a:chExt cx="4687888" cy="73207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4D77796-33AE-F7A2-8029-820C8E567C18}"/>
                  </a:ext>
                </a:extLst>
              </p:cNvPr>
              <p:cNvSpPr/>
              <p:nvPr/>
            </p:nvSpPr>
            <p:spPr>
              <a:xfrm>
                <a:off x="3708399" y="5522267"/>
                <a:ext cx="4687888" cy="722403"/>
              </a:xfrm>
              <a:prstGeom prst="roundRect">
                <a:avLst/>
              </a:prstGeom>
              <a:solidFill>
                <a:srgbClr val="EFF6FF"/>
              </a:solidFill>
              <a:ln w="16510">
                <a:solidFill>
                  <a:srgbClr val="1D4ED8"/>
                </a:solidFill>
              </a:ln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F7E4B30-8AE8-D59C-6B07-C81C7FC7BC6D}"/>
                  </a:ext>
                </a:extLst>
              </p:cNvPr>
              <p:cNvSpPr/>
              <p:nvPr/>
            </p:nvSpPr>
            <p:spPr>
              <a:xfrm>
                <a:off x="3763962" y="5531643"/>
                <a:ext cx="442912" cy="442912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57A862-0B69-D81C-BDE2-008948603615}"/>
                  </a:ext>
                </a:extLst>
              </p:cNvPr>
              <p:cNvSpPr txBox="1"/>
              <p:nvPr/>
            </p:nvSpPr>
            <p:spPr>
              <a:xfrm>
                <a:off x="3806824" y="5512593"/>
                <a:ext cx="4000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4</a:t>
                </a:r>
                <a:endParaRPr lang="ru-RU" sz="2400" b="1" dirty="0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DCBD0B-41CC-4AB5-E3F5-423A95B7AEAB}"/>
                </a:ext>
              </a:extLst>
            </p:cNvPr>
            <p:cNvSpPr txBox="1"/>
            <p:nvPr/>
          </p:nvSpPr>
          <p:spPr>
            <a:xfrm>
              <a:off x="1099343" y="3999704"/>
              <a:ext cx="3943350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Remove </a:t>
              </a:r>
              <a:r>
                <a:rPr lang="en-US" dirty="0" err="1">
                  <a:solidFill>
                    <a:schemeClr val="bg1"/>
                  </a:solidFill>
                </a:rPr>
                <a:t>stopwords</a:t>
              </a:r>
              <a:endParaRPr lang="en-US" dirty="0">
                <a:solidFill>
                  <a:schemeClr val="bg1"/>
                </a:solidFill>
              </a:endParaRPr>
            </a:p>
            <a:p>
              <a:pPr lvl="1"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(keep 8 signal words)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C3025C6-978F-F6DD-486D-CDE763FE71A5}"/>
              </a:ext>
            </a:extLst>
          </p:cNvPr>
          <p:cNvGrpSpPr/>
          <p:nvPr/>
        </p:nvGrpSpPr>
        <p:grpSpPr>
          <a:xfrm>
            <a:off x="511194" y="4798295"/>
            <a:ext cx="4687888" cy="732077"/>
            <a:chOff x="511194" y="4798295"/>
            <a:chExt cx="4687888" cy="73207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694A5C0-7697-4E21-F379-8818E0CFF84C}"/>
                </a:ext>
              </a:extLst>
            </p:cNvPr>
            <p:cNvGrpSpPr/>
            <p:nvPr/>
          </p:nvGrpSpPr>
          <p:grpSpPr>
            <a:xfrm>
              <a:off x="511194" y="4798295"/>
              <a:ext cx="4687888" cy="732077"/>
              <a:chOff x="3708399" y="5512593"/>
              <a:chExt cx="4687888" cy="732077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CF67CB2-08B6-4551-C326-CAB8DBFEAE0E}"/>
                  </a:ext>
                </a:extLst>
              </p:cNvPr>
              <p:cNvSpPr/>
              <p:nvPr/>
            </p:nvSpPr>
            <p:spPr>
              <a:xfrm>
                <a:off x="3708399" y="5522267"/>
                <a:ext cx="4687888" cy="722403"/>
              </a:xfrm>
              <a:prstGeom prst="roundRect">
                <a:avLst/>
              </a:prstGeom>
              <a:solidFill>
                <a:srgbClr val="EFF6FF"/>
              </a:solidFill>
              <a:ln w="16510">
                <a:solidFill>
                  <a:srgbClr val="1D4ED8"/>
                </a:solidFill>
              </a:ln>
              <a:effectLst/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9B1E5971-4DF4-164A-2551-747C5468098C}"/>
                  </a:ext>
                </a:extLst>
              </p:cNvPr>
              <p:cNvSpPr/>
              <p:nvPr/>
            </p:nvSpPr>
            <p:spPr>
              <a:xfrm>
                <a:off x="3763962" y="5531643"/>
                <a:ext cx="442912" cy="442912"/>
              </a:xfrm>
              <a:prstGeom prst="ellipse">
                <a:avLst/>
              </a:prstGeom>
              <a:solidFill>
                <a:srgbClr val="1D4ED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55A3F12-70C6-CA15-D6C1-2D9ED0BF27A8}"/>
                  </a:ext>
                </a:extLst>
              </p:cNvPr>
              <p:cNvSpPr txBox="1"/>
              <p:nvPr/>
            </p:nvSpPr>
            <p:spPr>
              <a:xfrm>
                <a:off x="3806824" y="5512593"/>
                <a:ext cx="40005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5</a:t>
                </a:r>
                <a:endParaRPr lang="ru-RU" sz="2400" b="1" dirty="0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95346A-1C93-A2A6-1D82-B29D0F0560ED}"/>
                </a:ext>
              </a:extLst>
            </p:cNvPr>
            <p:cNvSpPr txBox="1"/>
            <p:nvPr/>
          </p:nvSpPr>
          <p:spPr>
            <a:xfrm>
              <a:off x="1099343" y="4802696"/>
              <a:ext cx="3943350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Remove short tokens (&lt;3)</a:t>
              </a:r>
            </a:p>
            <a:p>
              <a:pPr lvl="1">
                <a:spcBef>
                  <a:spcPts val="600"/>
                </a:spcBef>
              </a:pPr>
              <a:r>
                <a:rPr lang="en-US" dirty="0">
                  <a:solidFill>
                    <a:schemeClr val="bg1"/>
                  </a:solidFill>
                </a:rPr>
                <a:t>+ POS lemmatization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20A08E-F10F-9E19-0309-F49189F8A3C8}"/>
              </a:ext>
            </a:extLst>
          </p:cNvPr>
          <p:cNvSpPr/>
          <p:nvPr/>
        </p:nvSpPr>
        <p:spPr>
          <a:xfrm>
            <a:off x="511195" y="5805198"/>
            <a:ext cx="11071186" cy="461665"/>
          </a:xfrm>
          <a:prstGeom prst="roundRect">
            <a:avLst/>
          </a:prstGeom>
          <a:solidFill>
            <a:srgbClr val="FEE2E2"/>
          </a:solidFill>
          <a:ln w="16510">
            <a:solidFill>
              <a:srgbClr val="C1121F"/>
            </a:solidFill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072A3A-90FC-33FC-49BC-6166BD4DC720}"/>
              </a:ext>
            </a:extLst>
          </p:cNvPr>
          <p:cNvSpPr txBox="1"/>
          <p:nvPr/>
        </p:nvSpPr>
        <p:spPr>
          <a:xfrm>
            <a:off x="609619" y="5826720"/>
            <a:ext cx="1097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F1D1D"/>
                </a:solidFill>
              </a:rPr>
              <a:t>Kept </a:t>
            </a:r>
            <a:r>
              <a:rPr lang="en-US" dirty="0" err="1">
                <a:solidFill>
                  <a:srgbClr val="7F1D1D"/>
                </a:solidFill>
              </a:rPr>
              <a:t>stopwords</a:t>
            </a:r>
            <a:r>
              <a:rPr lang="en-US" dirty="0">
                <a:solidFill>
                  <a:srgbClr val="7F1D1D"/>
                </a:solidFill>
              </a:rPr>
              <a:t> (signal): 		▪ not 	▪no 	▪never 	▪only 	▪just 	▪very 	▪again 	▪ even</a:t>
            </a:r>
            <a:endParaRPr lang="ru-RU" dirty="0">
              <a:solidFill>
                <a:srgbClr val="7F1D1D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198ECE-3B9C-DB01-D354-DD90698C0659}"/>
              </a:ext>
            </a:extLst>
          </p:cNvPr>
          <p:cNvSpPr txBox="1"/>
          <p:nvPr/>
        </p:nvSpPr>
        <p:spPr>
          <a:xfrm>
            <a:off x="511194" y="6390133"/>
            <a:ext cx="1120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Output: </a:t>
            </a:r>
            <a:r>
              <a:rPr lang="en-US" dirty="0">
                <a:solidFill>
                  <a:schemeClr val="bg1"/>
                </a:solidFill>
              </a:rPr>
              <a:t>BOW/TF-IDF + engineered </a:t>
            </a:r>
            <a:r>
              <a:rPr lang="en-US" dirty="0" err="1">
                <a:solidFill>
                  <a:schemeClr val="bg1"/>
                </a:solidFill>
              </a:rPr>
              <a:t>stopword_count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434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CB566-CE9D-C366-0702-108E5060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60B70-1C71-F9E1-ACD9-5F3ABEA03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Vectorization: </a:t>
            </a:r>
            <a:r>
              <a:rPr lang="en-US" sz="3600" b="1" dirty="0" err="1">
                <a:solidFill>
                  <a:schemeClr val="bg1"/>
                </a:solidFill>
              </a:rPr>
              <a:t>BoW</a:t>
            </a:r>
            <a:r>
              <a:rPr lang="en-US" sz="3600" b="1" dirty="0">
                <a:solidFill>
                  <a:schemeClr val="bg1"/>
                </a:solidFill>
              </a:rPr>
              <a:t> vs TF-IDF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015AB-D5DE-6773-EAFC-DFA20C104CC9}"/>
              </a:ext>
            </a:extLst>
          </p:cNvPr>
          <p:cNvSpPr txBox="1"/>
          <p:nvPr/>
        </p:nvSpPr>
        <p:spPr>
          <a:xfrm>
            <a:off x="655636" y="1214110"/>
            <a:ext cx="1002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B7280"/>
                </a:solidFill>
              </a:rPr>
              <a:t>Baseline: </a:t>
            </a:r>
            <a:r>
              <a:rPr lang="en-US" dirty="0">
                <a:solidFill>
                  <a:srgbClr val="6B7280"/>
                </a:solidFill>
              </a:rPr>
              <a:t>Logistic Regression ▪5k features ▪(1,2)-grams ▪</a:t>
            </a:r>
            <a:r>
              <a:rPr lang="en-US" dirty="0" err="1">
                <a:solidFill>
                  <a:srgbClr val="6B7280"/>
                </a:solidFill>
              </a:rPr>
              <a:t>min_df</a:t>
            </a:r>
            <a:r>
              <a:rPr lang="en-US" dirty="0">
                <a:solidFill>
                  <a:srgbClr val="6B7280"/>
                </a:solidFill>
              </a:rPr>
              <a:t>=2  ▪</a:t>
            </a:r>
            <a:r>
              <a:rPr lang="en-US" dirty="0" err="1">
                <a:solidFill>
                  <a:srgbClr val="6B7280"/>
                </a:solidFill>
              </a:rPr>
              <a:t>max_df</a:t>
            </a:r>
            <a:r>
              <a:rPr lang="en-US" dirty="0">
                <a:solidFill>
                  <a:srgbClr val="6B7280"/>
                </a:solidFill>
              </a:rPr>
              <a:t>=0.95 ▪ 80/20 stratified split</a:t>
            </a:r>
            <a:endParaRPr lang="ru-RU" dirty="0">
              <a:solidFill>
                <a:srgbClr val="6B728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45FEC-185C-3D0B-80FB-6356C2B69B7D}"/>
              </a:ext>
            </a:extLst>
          </p:cNvPr>
          <p:cNvSpPr/>
          <p:nvPr/>
        </p:nvSpPr>
        <p:spPr>
          <a:xfrm>
            <a:off x="776303" y="1770831"/>
            <a:ext cx="5060931" cy="2591620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868AAD-DB18-331C-F526-E34239FDE8BC}"/>
              </a:ext>
            </a:extLst>
          </p:cNvPr>
          <p:cNvSpPr/>
          <p:nvPr/>
        </p:nvSpPr>
        <p:spPr>
          <a:xfrm>
            <a:off x="776303" y="1770830"/>
            <a:ext cx="5060931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D209E3-6D45-717C-6C8C-B03B88BD3D82}"/>
              </a:ext>
            </a:extLst>
          </p:cNvPr>
          <p:cNvSpPr/>
          <p:nvPr/>
        </p:nvSpPr>
        <p:spPr>
          <a:xfrm>
            <a:off x="6354766" y="1770831"/>
            <a:ext cx="5060931" cy="2591620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896695-535A-5A3F-971B-B58BFDC0DFCF}"/>
              </a:ext>
            </a:extLst>
          </p:cNvPr>
          <p:cNvSpPr/>
          <p:nvPr/>
        </p:nvSpPr>
        <p:spPr>
          <a:xfrm>
            <a:off x="6354766" y="1770830"/>
            <a:ext cx="5060931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D7B382-2B0C-FF0E-5B5A-BBBA9B84D0D0}"/>
              </a:ext>
            </a:extLst>
          </p:cNvPr>
          <p:cNvSpPr txBox="1"/>
          <p:nvPr/>
        </p:nvSpPr>
        <p:spPr>
          <a:xfrm>
            <a:off x="866775" y="1788885"/>
            <a:ext cx="414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BAG OF WORDS (</a:t>
            </a:r>
            <a:r>
              <a:rPr lang="en-US" dirty="0" err="1"/>
              <a:t>CountVectorizer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75291F-AADD-00C0-817A-20F622C3A2CD}"/>
              </a:ext>
            </a:extLst>
          </p:cNvPr>
          <p:cNvSpPr txBox="1"/>
          <p:nvPr/>
        </p:nvSpPr>
        <p:spPr>
          <a:xfrm>
            <a:off x="6448425" y="1770829"/>
            <a:ext cx="414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TF-IDF(</a:t>
            </a:r>
            <a:r>
              <a:rPr lang="en-US" dirty="0" err="1"/>
              <a:t>TfidfVectorizer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E497E4-3227-3253-2582-E666BBF5D475}"/>
              </a:ext>
            </a:extLst>
          </p:cNvPr>
          <p:cNvSpPr txBox="1"/>
          <p:nvPr/>
        </p:nvSpPr>
        <p:spPr>
          <a:xfrm>
            <a:off x="800275" y="2160939"/>
            <a:ext cx="3819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Test accuracy: </a:t>
            </a:r>
            <a:r>
              <a:rPr lang="en-US" sz="4400" b="1" dirty="0">
                <a:solidFill>
                  <a:schemeClr val="bg1"/>
                </a:solidFill>
              </a:rPr>
              <a:t>92.46%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985B3D-BBE9-BD46-196D-5CF3DF6FACD3}"/>
              </a:ext>
            </a:extLst>
          </p:cNvPr>
          <p:cNvSpPr txBox="1"/>
          <p:nvPr/>
        </p:nvSpPr>
        <p:spPr>
          <a:xfrm>
            <a:off x="952500" y="2930380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Simple and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Works very well with linear models on sparse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Counts word/ n-gram occurrences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FC4E0-D174-5DC5-D7E3-CD1736FDF9D1}"/>
              </a:ext>
            </a:extLst>
          </p:cNvPr>
          <p:cNvSpPr txBox="1"/>
          <p:nvPr/>
        </p:nvSpPr>
        <p:spPr>
          <a:xfrm>
            <a:off x="6448425" y="2158217"/>
            <a:ext cx="38195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Test accuracy: </a:t>
            </a:r>
            <a:r>
              <a:rPr lang="en-US" sz="4400" b="1" dirty="0">
                <a:solidFill>
                  <a:schemeClr val="bg1"/>
                </a:solidFill>
              </a:rPr>
              <a:t>92.15%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30B415-BE28-7F32-4670-B41DE48755A4}"/>
              </a:ext>
            </a:extLst>
          </p:cNvPr>
          <p:cNvSpPr txBox="1"/>
          <p:nvPr/>
        </p:nvSpPr>
        <p:spPr>
          <a:xfrm>
            <a:off x="6600650" y="2927658"/>
            <a:ext cx="449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Weights words by importance (down-weights very common terms)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Works very well on sparse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Can over-emphasize rare/ noisy terms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65E13-4D35-E362-CB9D-6830232D3AD8}"/>
              </a:ext>
            </a:extLst>
          </p:cNvPr>
          <p:cNvSpPr txBox="1"/>
          <p:nvPr/>
        </p:nvSpPr>
        <p:spPr>
          <a:xfrm>
            <a:off x="866775" y="4442406"/>
            <a:ext cx="10586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Decision: </a:t>
            </a:r>
            <a:r>
              <a:rPr lang="en-US" dirty="0" err="1">
                <a:solidFill>
                  <a:schemeClr val="bg1"/>
                </a:solidFill>
              </a:rPr>
              <a:t>BoW</a:t>
            </a:r>
            <a:r>
              <a:rPr lang="en-US" dirty="0">
                <a:solidFill>
                  <a:schemeClr val="bg1"/>
                </a:solidFill>
              </a:rPr>
              <a:t> performed slightly better </a:t>
            </a:r>
            <a:r>
              <a:rPr lang="en-US" b="1" dirty="0">
                <a:solidFill>
                  <a:schemeClr val="bg1"/>
                </a:solidFill>
              </a:rPr>
              <a:t>(+0.31 pp</a:t>
            </a:r>
            <a:r>
              <a:rPr lang="en-US" dirty="0">
                <a:solidFill>
                  <a:schemeClr val="bg1"/>
                </a:solidFill>
              </a:rPr>
              <a:t>) 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 used in Phase 1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E91DA94-D457-F2B4-771E-AA8AAC80F883}"/>
              </a:ext>
            </a:extLst>
          </p:cNvPr>
          <p:cNvGrpSpPr/>
          <p:nvPr/>
        </p:nvGrpSpPr>
        <p:grpSpPr>
          <a:xfrm>
            <a:off x="676362" y="5840677"/>
            <a:ext cx="10819945" cy="844674"/>
            <a:chOff x="676362" y="5831152"/>
            <a:chExt cx="10819945" cy="844674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F5596D03-7B55-3B1B-C74B-F0151D11E920}"/>
                </a:ext>
              </a:extLst>
            </p:cNvPr>
            <p:cNvGrpSpPr/>
            <p:nvPr/>
          </p:nvGrpSpPr>
          <p:grpSpPr>
            <a:xfrm>
              <a:off x="866775" y="5831152"/>
              <a:ext cx="10548922" cy="455348"/>
              <a:chOff x="866775" y="5831152"/>
              <a:chExt cx="10548922" cy="455348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9E64655-D9E8-0ED1-808F-205A1E5D1AFA}"/>
                  </a:ext>
                </a:extLst>
              </p:cNvPr>
              <p:cNvCxnSpPr/>
              <p:nvPr/>
            </p:nvCxnSpPr>
            <p:spPr>
              <a:xfrm>
                <a:off x="866775" y="6286500"/>
                <a:ext cx="10548922" cy="0"/>
              </a:xfrm>
              <a:prstGeom prst="line">
                <a:avLst/>
              </a:prstGeom>
              <a:ln w="1905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1C3EAF-5322-19AC-592A-6055A10D1908}"/>
                  </a:ext>
                </a:extLst>
              </p:cNvPr>
              <p:cNvSpPr/>
              <p:nvPr/>
            </p:nvSpPr>
            <p:spPr>
              <a:xfrm>
                <a:off x="6520900" y="5831152"/>
                <a:ext cx="219075" cy="43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3962709-F2FC-3653-16D5-0D95671EC9F9}"/>
                  </a:ext>
                </a:extLst>
              </p:cNvPr>
              <p:cNvSpPr/>
              <p:nvPr/>
            </p:nvSpPr>
            <p:spPr>
              <a:xfrm>
                <a:off x="7634580" y="5935552"/>
                <a:ext cx="219075" cy="3276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6D085A3-97DA-9EAD-F103-4C8C95FE9485}"/>
                  </a:ext>
                </a:extLst>
              </p:cNvPr>
              <p:cNvSpPr/>
              <p:nvPr/>
            </p:nvSpPr>
            <p:spPr>
              <a:xfrm>
                <a:off x="8748260" y="5949952"/>
                <a:ext cx="219075" cy="3132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C30AA85-C415-F8F4-3124-F6A537B484D5}"/>
                  </a:ext>
                </a:extLst>
              </p:cNvPr>
              <p:cNvSpPr/>
              <p:nvPr/>
            </p:nvSpPr>
            <p:spPr>
              <a:xfrm>
                <a:off x="9861940" y="5975152"/>
                <a:ext cx="219075" cy="288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31D693-3EA1-3BB6-DF13-3A6A2DD1E4FD}"/>
                  </a:ext>
                </a:extLst>
              </p:cNvPr>
              <p:cNvSpPr/>
              <p:nvPr/>
            </p:nvSpPr>
            <p:spPr>
              <a:xfrm>
                <a:off x="10975618" y="5982352"/>
                <a:ext cx="219075" cy="2808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FFCE841-1EC4-8A7D-634D-15C486DEE3EC}"/>
                  </a:ext>
                </a:extLst>
              </p:cNvPr>
              <p:cNvSpPr/>
              <p:nvPr/>
            </p:nvSpPr>
            <p:spPr>
              <a:xfrm>
                <a:off x="952500" y="5831152"/>
                <a:ext cx="219075" cy="432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5D04C9F-9DBB-5A18-9DCB-D45A83C48D21}"/>
                  </a:ext>
                </a:extLst>
              </p:cNvPr>
              <p:cNvSpPr/>
              <p:nvPr/>
            </p:nvSpPr>
            <p:spPr>
              <a:xfrm>
                <a:off x="2066180" y="5870752"/>
                <a:ext cx="219075" cy="392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155C7C1-8C38-5D4B-7A86-00EFE272A89F}"/>
                  </a:ext>
                </a:extLst>
              </p:cNvPr>
              <p:cNvSpPr/>
              <p:nvPr/>
            </p:nvSpPr>
            <p:spPr>
              <a:xfrm>
                <a:off x="3179860" y="5892352"/>
                <a:ext cx="219075" cy="370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32B99F1-BAF8-FCA0-2368-5BFEA63F9708}"/>
                  </a:ext>
                </a:extLst>
              </p:cNvPr>
              <p:cNvSpPr/>
              <p:nvPr/>
            </p:nvSpPr>
            <p:spPr>
              <a:xfrm>
                <a:off x="4293540" y="5899552"/>
                <a:ext cx="219075" cy="363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AB7AE13-52FE-1EFB-E331-DBC343F73252}"/>
                  </a:ext>
                </a:extLst>
              </p:cNvPr>
              <p:cNvSpPr/>
              <p:nvPr/>
            </p:nvSpPr>
            <p:spPr>
              <a:xfrm>
                <a:off x="5407220" y="5942752"/>
                <a:ext cx="219075" cy="320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D8509A3-1577-6DBD-A133-CAB8A7E0C24E}"/>
                </a:ext>
              </a:extLst>
            </p:cNvPr>
            <p:cNvSpPr txBox="1"/>
            <p:nvPr/>
          </p:nvSpPr>
          <p:spPr>
            <a:xfrm>
              <a:off x="676362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video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8EE11B-C4F9-5B26-0505-361A2F74D652}"/>
                </a:ext>
              </a:extLst>
            </p:cNvPr>
            <p:cNvSpPr txBox="1"/>
            <p:nvPr/>
          </p:nvSpPr>
          <p:spPr>
            <a:xfrm>
              <a:off x="1863128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gop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8D03AB-ABE9-949A-AF5D-412ADD1911F8}"/>
                </a:ext>
              </a:extLst>
            </p:cNvPr>
            <p:cNvSpPr txBox="1"/>
            <p:nvPr/>
          </p:nvSpPr>
          <p:spPr>
            <a:xfrm>
              <a:off x="4169985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just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145A159-2D86-C84B-87F7-B3D2CABA728E}"/>
                </a:ext>
              </a:extLst>
            </p:cNvPr>
            <p:cNvSpPr txBox="1"/>
            <p:nvPr/>
          </p:nvSpPr>
          <p:spPr>
            <a:xfrm>
              <a:off x="2859394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hilary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B2F4D49-422B-5EE6-C362-F52928400DEF}"/>
                </a:ext>
              </a:extLst>
            </p:cNvPr>
            <p:cNvSpPr txBox="1"/>
            <p:nvPr/>
          </p:nvSpPr>
          <p:spPr>
            <a:xfrm>
              <a:off x="5166251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dem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A3B0CA9-036F-BB8C-C3AF-7A77D4E27861}"/>
                </a:ext>
              </a:extLst>
            </p:cNvPr>
            <p:cNvSpPr txBox="1"/>
            <p:nvPr/>
          </p:nvSpPr>
          <p:spPr>
            <a:xfrm>
              <a:off x="6162517" y="6306494"/>
              <a:ext cx="9686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factbox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C01AC71-5847-CEA1-9E50-68B0B1C2B674}"/>
                </a:ext>
              </a:extLst>
            </p:cNvPr>
            <p:cNvSpPr txBox="1"/>
            <p:nvPr/>
          </p:nvSpPr>
          <p:spPr>
            <a:xfrm>
              <a:off x="7413258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urge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7A61B3C-59FF-D7E3-5B43-303ACD4107B5}"/>
                </a:ext>
              </a:extLst>
            </p:cNvPr>
            <p:cNvSpPr txBox="1"/>
            <p:nvPr/>
          </p:nvSpPr>
          <p:spPr>
            <a:xfrm>
              <a:off x="9378773" y="6306494"/>
              <a:ext cx="1302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spokesman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414B66F-07A3-B3A8-1525-09B75E75AC60}"/>
                </a:ext>
              </a:extLst>
            </p:cNvPr>
            <p:cNvSpPr txBox="1"/>
            <p:nvPr/>
          </p:nvSpPr>
          <p:spPr>
            <a:xfrm>
              <a:off x="8352374" y="6306494"/>
              <a:ext cx="1039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bg1"/>
                  </a:solidFill>
                </a:rPr>
                <a:t>tillerson</a:t>
              </a:r>
              <a:endParaRPr lang="ru-RU" dirty="0">
                <a:solidFill>
                  <a:schemeClr val="bg1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1B4CE61-56D7-0AAF-B32A-BFF9856C302B}"/>
                </a:ext>
              </a:extLst>
            </p:cNvPr>
            <p:cNvSpPr txBox="1"/>
            <p:nvPr/>
          </p:nvSpPr>
          <p:spPr>
            <a:xfrm>
              <a:off x="10724957" y="6306494"/>
              <a:ext cx="7713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trade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C359319-C9AF-8D03-EAC8-BDFF56D84F16}"/>
              </a:ext>
            </a:extLst>
          </p:cNvPr>
          <p:cNvSpPr txBox="1"/>
          <p:nvPr/>
        </p:nvSpPr>
        <p:spPr>
          <a:xfrm>
            <a:off x="1014412" y="5396588"/>
            <a:ext cx="437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Fake (top negative weights)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39876B-5121-7DDC-3052-9652DE37A2ED}"/>
              </a:ext>
            </a:extLst>
          </p:cNvPr>
          <p:cNvSpPr txBox="1"/>
          <p:nvPr/>
        </p:nvSpPr>
        <p:spPr>
          <a:xfrm>
            <a:off x="6520900" y="5396588"/>
            <a:ext cx="437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Real (top positive weights)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01B00AA-E8EA-3A45-F387-D2E542E97412}"/>
              </a:ext>
            </a:extLst>
          </p:cNvPr>
          <p:cNvSpPr/>
          <p:nvPr/>
        </p:nvSpPr>
        <p:spPr>
          <a:xfrm>
            <a:off x="776303" y="5039016"/>
            <a:ext cx="1067739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ADBCD61-D166-23B1-E650-8D3B5D2742E9}"/>
              </a:ext>
            </a:extLst>
          </p:cNvPr>
          <p:cNvSpPr txBox="1"/>
          <p:nvPr/>
        </p:nvSpPr>
        <p:spPr>
          <a:xfrm>
            <a:off x="3244796" y="5025935"/>
            <a:ext cx="574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PREDICTIVE TERMS (</a:t>
            </a:r>
            <a:r>
              <a:rPr lang="en-US" dirty="0" err="1"/>
              <a:t>LogReg</a:t>
            </a:r>
            <a:r>
              <a:rPr lang="en-US" dirty="0"/>
              <a:t> coefficients)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03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20ED7-D3B0-AA99-3629-D9F7A734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20">
            <a:extLst>
              <a:ext uri="{FF2B5EF4-FFF2-40B4-BE49-F238E27FC236}">
                <a16:creationId xmlns:a16="http://schemas.microsoft.com/office/drawing/2014/main" id="{CA855ADF-5431-877C-1335-6170C31E890A}"/>
              </a:ext>
            </a:extLst>
          </p:cNvPr>
          <p:cNvSpPr/>
          <p:nvPr/>
        </p:nvSpPr>
        <p:spPr>
          <a:xfrm>
            <a:off x="557642" y="5694899"/>
            <a:ext cx="11285659" cy="4616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F2800-DF4B-A51E-2F98-3EF2EA6E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Model development: 3 phases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02D38-2D7D-57A9-9454-6945098AD03A}"/>
              </a:ext>
            </a:extLst>
          </p:cNvPr>
          <p:cNvSpPr txBox="1"/>
          <p:nvPr/>
        </p:nvSpPr>
        <p:spPr>
          <a:xfrm>
            <a:off x="655636" y="1214110"/>
            <a:ext cx="10023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6B7280"/>
                </a:solidFill>
              </a:rPr>
              <a:t>Metric focus: </a:t>
            </a:r>
            <a:r>
              <a:rPr lang="en-US" b="1" dirty="0">
                <a:solidFill>
                  <a:srgbClr val="6B7280"/>
                </a:solidFill>
              </a:rPr>
              <a:t>F1-score</a:t>
            </a:r>
            <a:r>
              <a:rPr lang="en-US" dirty="0">
                <a:solidFill>
                  <a:srgbClr val="6B7280"/>
                </a:solidFill>
              </a:rPr>
              <a:t> (balances precision &amp; recall)</a:t>
            </a:r>
            <a:endParaRPr lang="ru-RU" dirty="0">
              <a:solidFill>
                <a:srgbClr val="6B728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EA7C4C-684A-9DBB-15AC-56A495B67F76}"/>
              </a:ext>
            </a:extLst>
          </p:cNvPr>
          <p:cNvSpPr/>
          <p:nvPr/>
        </p:nvSpPr>
        <p:spPr>
          <a:xfrm>
            <a:off x="557643" y="1770831"/>
            <a:ext cx="3347607" cy="3225998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4322E6-E6F3-D9B9-544C-6BFA8695570D}"/>
              </a:ext>
            </a:extLst>
          </p:cNvPr>
          <p:cNvSpPr/>
          <p:nvPr/>
        </p:nvSpPr>
        <p:spPr>
          <a:xfrm>
            <a:off x="4422196" y="1770831"/>
            <a:ext cx="3347607" cy="3225998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85FDB1-B56F-F2D4-79B4-5DF76F8FD530}"/>
              </a:ext>
            </a:extLst>
          </p:cNvPr>
          <p:cNvSpPr/>
          <p:nvPr/>
        </p:nvSpPr>
        <p:spPr>
          <a:xfrm>
            <a:off x="8486360" y="1754317"/>
            <a:ext cx="3347607" cy="3225998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21A79A-3121-9D31-284F-878235176D2D}"/>
              </a:ext>
            </a:extLst>
          </p:cNvPr>
          <p:cNvSpPr/>
          <p:nvPr/>
        </p:nvSpPr>
        <p:spPr>
          <a:xfrm>
            <a:off x="557643" y="1793292"/>
            <a:ext cx="3347607" cy="5972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47DFAF-BE62-10EF-545A-561E1C809CEA}"/>
              </a:ext>
            </a:extLst>
          </p:cNvPr>
          <p:cNvSpPr txBox="1"/>
          <p:nvPr/>
        </p:nvSpPr>
        <p:spPr>
          <a:xfrm>
            <a:off x="648115" y="1811348"/>
            <a:ext cx="32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1 – Baselines (</a:t>
            </a:r>
            <a:r>
              <a:rPr lang="en-US" dirty="0" err="1"/>
              <a:t>BoW</a:t>
            </a:r>
            <a:r>
              <a:rPr lang="en-US" dirty="0"/>
              <a:t> only)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F0CD08-52FB-C77D-FE7A-A08AAE50F6ED}"/>
              </a:ext>
            </a:extLst>
          </p:cNvPr>
          <p:cNvSpPr/>
          <p:nvPr/>
        </p:nvSpPr>
        <p:spPr>
          <a:xfrm>
            <a:off x="4431530" y="1770830"/>
            <a:ext cx="3347607" cy="619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D9602-E3A3-D3F7-4FAD-3B6C15237023}"/>
              </a:ext>
            </a:extLst>
          </p:cNvPr>
          <p:cNvSpPr txBox="1"/>
          <p:nvPr/>
        </p:nvSpPr>
        <p:spPr>
          <a:xfrm>
            <a:off x="4522002" y="1788885"/>
            <a:ext cx="3257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2 –</a:t>
            </a:r>
            <a:r>
              <a:rPr lang="en-US" dirty="0" err="1"/>
              <a:t>BoW</a:t>
            </a:r>
            <a:r>
              <a:rPr lang="en-US" dirty="0"/>
              <a:t> + engineered features</a:t>
            </a:r>
            <a:endParaRPr lang="ru-R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4C3E6C-DD98-A723-FA13-72B47F362BAF}"/>
              </a:ext>
            </a:extLst>
          </p:cNvPr>
          <p:cNvSpPr/>
          <p:nvPr/>
        </p:nvSpPr>
        <p:spPr>
          <a:xfrm>
            <a:off x="8495694" y="1770830"/>
            <a:ext cx="3347607" cy="619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674A0-0FDB-DF96-ADB0-BA46FB560E3D}"/>
              </a:ext>
            </a:extLst>
          </p:cNvPr>
          <p:cNvSpPr txBox="1"/>
          <p:nvPr/>
        </p:nvSpPr>
        <p:spPr>
          <a:xfrm>
            <a:off x="8586166" y="1788885"/>
            <a:ext cx="3257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PHASE 3 – Hyperparameter tuning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34D49F-EA91-B97C-0582-60E9CD4C5D96}"/>
              </a:ext>
            </a:extLst>
          </p:cNvPr>
          <p:cNvSpPr txBox="1"/>
          <p:nvPr/>
        </p:nvSpPr>
        <p:spPr>
          <a:xfrm>
            <a:off x="699929" y="2524125"/>
            <a:ext cx="308017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Models</a:t>
            </a:r>
            <a:r>
              <a:rPr lang="en-GB" dirty="0">
                <a:solidFill>
                  <a:schemeClr val="bg1"/>
                </a:solidFill>
              </a:rPr>
              <a:t>: LR • Linear SVM • NB • RF • </a:t>
            </a:r>
            <a:r>
              <a:rPr lang="en-GB" dirty="0" err="1">
                <a:solidFill>
                  <a:schemeClr val="bg1"/>
                </a:solidFill>
              </a:rPr>
              <a:t>XGBoost</a:t>
            </a:r>
            <a:endParaRPr lang="en-GB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Best</a:t>
            </a:r>
            <a:r>
              <a:rPr lang="en-GB" dirty="0">
                <a:solidFill>
                  <a:schemeClr val="bg1"/>
                </a:solidFill>
              </a:rPr>
              <a:t>: Logistic Regression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bg1"/>
                </a:solidFill>
              </a:rPr>
              <a:t>F1</a:t>
            </a:r>
            <a:r>
              <a:rPr lang="en-GB" dirty="0">
                <a:solidFill>
                  <a:schemeClr val="bg1"/>
                </a:solidFill>
              </a:rPr>
              <a:t>: 0.9260  (</a:t>
            </a:r>
            <a:r>
              <a:rPr lang="en-GB" dirty="0" err="1">
                <a:solidFill>
                  <a:schemeClr val="bg1"/>
                </a:solidFill>
              </a:rPr>
              <a:t>Acc</a:t>
            </a:r>
            <a:r>
              <a:rPr lang="en-GB" dirty="0">
                <a:solidFill>
                  <a:schemeClr val="bg1"/>
                </a:solidFill>
              </a:rPr>
              <a:t>: 0.9246)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B9294F-37E7-E053-DC83-774FF4A732D9}"/>
              </a:ext>
            </a:extLst>
          </p:cNvPr>
          <p:cNvSpPr txBox="1"/>
          <p:nvPr/>
        </p:nvSpPr>
        <p:spPr>
          <a:xfrm>
            <a:off x="4487327" y="2457672"/>
            <a:ext cx="3257135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Added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dirty="0" err="1">
                <a:solidFill>
                  <a:schemeClr val="bg1"/>
                </a:solidFill>
              </a:rPr>
              <a:t>duplication_count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dirty="0" err="1">
                <a:solidFill>
                  <a:schemeClr val="bg1"/>
                </a:solidFill>
              </a:rPr>
              <a:t>stopword_count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dirty="0" err="1">
                <a:solidFill>
                  <a:schemeClr val="bg1"/>
                </a:solidFill>
              </a:rPr>
              <a:t>headline_length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dirty="0" err="1">
                <a:solidFill>
                  <a:schemeClr val="bg1"/>
                </a:solidFill>
              </a:rPr>
              <a:t>word_count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Best overall</a:t>
            </a:r>
            <a:r>
              <a:rPr lang="en-US" dirty="0">
                <a:solidFill>
                  <a:schemeClr val="bg1"/>
                </a:solidFill>
              </a:rPr>
              <a:t>: Logistic Regression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F1</a:t>
            </a:r>
            <a:r>
              <a:rPr lang="en-US" dirty="0">
                <a:solidFill>
                  <a:schemeClr val="bg1"/>
                </a:solidFill>
              </a:rPr>
              <a:t>: 0.9330  (Acc: 0.9319)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Δ vs Phase 1</a:t>
            </a:r>
            <a:r>
              <a:rPr lang="en-US" dirty="0">
                <a:solidFill>
                  <a:schemeClr val="bg1"/>
                </a:solidFill>
              </a:rPr>
              <a:t>: +0.0070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4B91E7-77B6-8D7E-6F4A-822A47FC612B}"/>
              </a:ext>
            </a:extLst>
          </p:cNvPr>
          <p:cNvSpPr txBox="1"/>
          <p:nvPr/>
        </p:nvSpPr>
        <p:spPr>
          <a:xfrm>
            <a:off x="8667749" y="2507436"/>
            <a:ext cx="29666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Grid search (C, solver, </a:t>
            </a:r>
            <a:r>
              <a:rPr lang="en-US" dirty="0" err="1">
                <a:solidFill>
                  <a:schemeClr val="bg1"/>
                </a:solidFill>
              </a:rPr>
              <a:t>class_weight</a:t>
            </a:r>
            <a:r>
              <a:rPr lang="en-US" dirty="0">
                <a:solidFill>
                  <a:schemeClr val="bg1"/>
                </a:solidFill>
              </a:rPr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Result</a:t>
            </a:r>
            <a:r>
              <a:rPr lang="en-US" dirty="0">
                <a:solidFill>
                  <a:schemeClr val="bg1"/>
                </a:solidFill>
              </a:rPr>
              <a:t>: ~no change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F1</a:t>
            </a:r>
            <a:r>
              <a:rPr lang="en-US" dirty="0">
                <a:solidFill>
                  <a:schemeClr val="bg1"/>
                </a:solidFill>
              </a:rPr>
              <a:t>: 0.9325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Winner</a:t>
            </a:r>
            <a:r>
              <a:rPr lang="en-US" dirty="0">
                <a:solidFill>
                  <a:schemeClr val="bg1"/>
                </a:solidFill>
              </a:rPr>
              <a:t>: tuned </a:t>
            </a:r>
            <a:r>
              <a:rPr lang="en-US" dirty="0" err="1">
                <a:solidFill>
                  <a:schemeClr val="bg1"/>
                </a:solidFill>
              </a:rPr>
              <a:t>XGBoost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Reached F1</a:t>
            </a:r>
            <a:r>
              <a:rPr lang="en-US" dirty="0">
                <a:solidFill>
                  <a:schemeClr val="bg1"/>
                </a:solidFill>
              </a:rPr>
              <a:t>=0.9420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41B915-FF11-4DB6-E109-9F349FF177CE}"/>
              </a:ext>
            </a:extLst>
          </p:cNvPr>
          <p:cNvSpPr txBox="1"/>
          <p:nvPr/>
        </p:nvSpPr>
        <p:spPr>
          <a:xfrm>
            <a:off x="557642" y="5711413"/>
            <a:ext cx="11076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sym typeface="Wingdings" panose="05000000000000000000" pitchFamily="2" charset="2"/>
              </a:rPr>
              <a:t>Engineered features</a:t>
            </a:r>
            <a:r>
              <a:rPr lang="en-US" sz="1800" dirty="0">
                <a:solidFill>
                  <a:schemeClr val="bg2"/>
                </a:solidFill>
                <a:sym typeface="Wingdings" panose="05000000000000000000" pitchFamily="2" charset="2"/>
              </a:rPr>
              <a:t>: 	</a:t>
            </a:r>
            <a:r>
              <a:rPr lang="en-US" sz="1800" dirty="0" err="1">
                <a:solidFill>
                  <a:schemeClr val="bg2"/>
                </a:solidFill>
                <a:sym typeface="Wingdings" panose="05000000000000000000" pitchFamily="2" charset="2"/>
              </a:rPr>
              <a:t>duplication_count</a:t>
            </a:r>
            <a:r>
              <a:rPr lang="en-US" sz="1800" dirty="0">
                <a:solidFill>
                  <a:schemeClr val="bg2"/>
                </a:solidFill>
                <a:sym typeface="Wingdings" panose="05000000000000000000" pitchFamily="2" charset="2"/>
              </a:rPr>
              <a:t> 		</a:t>
            </a: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en-US" dirty="0" err="1">
                <a:solidFill>
                  <a:schemeClr val="bg1"/>
                </a:solidFill>
              </a:rPr>
              <a:t>stopword_count</a:t>
            </a:r>
            <a:r>
              <a:rPr lang="en-US" dirty="0">
                <a:solidFill>
                  <a:schemeClr val="bg1"/>
                </a:solidFill>
              </a:rPr>
              <a:t> 		• </a:t>
            </a:r>
            <a:r>
              <a:rPr lang="en-US" dirty="0" err="1">
                <a:solidFill>
                  <a:schemeClr val="bg1"/>
                </a:solidFill>
              </a:rPr>
              <a:t>headline_length</a:t>
            </a:r>
            <a:r>
              <a:rPr lang="en-US" dirty="0">
                <a:solidFill>
                  <a:schemeClr val="bg1"/>
                </a:solidFill>
              </a:rPr>
              <a:t> 		• </a:t>
            </a:r>
            <a:r>
              <a:rPr lang="en-US" dirty="0" err="1">
                <a:solidFill>
                  <a:schemeClr val="bg1"/>
                </a:solidFill>
              </a:rPr>
              <a:t>word_count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651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8217-770B-FE52-5DCE-435734F4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8B7E-09B3-3B6D-A684-BB58E1F0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Model development: Phase 2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graph of a bar graph&#10;&#10;AI-generated content may be incorrect.">
            <a:extLst>
              <a:ext uri="{FF2B5EF4-FFF2-40B4-BE49-F238E27FC236}">
                <a16:creationId xmlns:a16="http://schemas.microsoft.com/office/drawing/2014/main" id="{CD513AC5-C5A1-5A61-CC6E-5F232B317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257334"/>
            <a:ext cx="8770936" cy="5196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76E129-2B99-882B-40E6-B3B9669EA140}"/>
              </a:ext>
            </a:extLst>
          </p:cNvPr>
          <p:cNvSpPr txBox="1"/>
          <p:nvPr/>
        </p:nvSpPr>
        <p:spPr>
          <a:xfrm>
            <a:off x="481442" y="6470356"/>
            <a:ext cx="11076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2"/>
                </a:solidFill>
                <a:sym typeface="Wingdings" panose="05000000000000000000" pitchFamily="2" charset="2"/>
              </a:rPr>
              <a:t>Engineered features</a:t>
            </a:r>
            <a:r>
              <a:rPr lang="en-US" sz="1800" dirty="0">
                <a:solidFill>
                  <a:schemeClr val="bg2"/>
                </a:solidFill>
                <a:sym typeface="Wingdings" panose="05000000000000000000" pitchFamily="2" charset="2"/>
              </a:rPr>
              <a:t>: 	</a:t>
            </a:r>
            <a:r>
              <a:rPr lang="en-US" sz="1800" dirty="0" err="1">
                <a:solidFill>
                  <a:schemeClr val="bg2"/>
                </a:solidFill>
                <a:sym typeface="Wingdings" panose="05000000000000000000" pitchFamily="2" charset="2"/>
              </a:rPr>
              <a:t>duplication_count</a:t>
            </a:r>
            <a:r>
              <a:rPr lang="en-US" sz="1800" dirty="0">
                <a:solidFill>
                  <a:schemeClr val="bg2"/>
                </a:solidFill>
                <a:sym typeface="Wingdings" panose="05000000000000000000" pitchFamily="2" charset="2"/>
              </a:rPr>
              <a:t> 		</a:t>
            </a: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en-US" dirty="0" err="1">
                <a:solidFill>
                  <a:schemeClr val="bg1"/>
                </a:solidFill>
              </a:rPr>
              <a:t>stopword_count</a:t>
            </a:r>
            <a:r>
              <a:rPr lang="en-US" dirty="0">
                <a:solidFill>
                  <a:schemeClr val="bg1"/>
                </a:solidFill>
              </a:rPr>
              <a:t> 		• </a:t>
            </a:r>
            <a:r>
              <a:rPr lang="en-US" dirty="0" err="1">
                <a:solidFill>
                  <a:schemeClr val="bg1"/>
                </a:solidFill>
              </a:rPr>
              <a:t>headline_length</a:t>
            </a:r>
            <a:r>
              <a:rPr lang="en-US" dirty="0">
                <a:solidFill>
                  <a:schemeClr val="bg1"/>
                </a:solidFill>
              </a:rPr>
              <a:t> 		• </a:t>
            </a:r>
            <a:r>
              <a:rPr lang="en-US" dirty="0" err="1">
                <a:solidFill>
                  <a:schemeClr val="bg1"/>
                </a:solidFill>
              </a:rPr>
              <a:t>word_count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281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03269-5418-F6F3-9BBD-198D0CBC4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549ADEA-2E17-86F3-1CAB-34C8A7E0FD83}"/>
              </a:ext>
            </a:extLst>
          </p:cNvPr>
          <p:cNvSpPr/>
          <p:nvPr/>
        </p:nvSpPr>
        <p:spPr>
          <a:xfrm>
            <a:off x="8814691" y="2801251"/>
            <a:ext cx="3101385" cy="3987165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B61AC-4253-69C9-D51B-87DBB8419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Model development: Hyperparameter Tuning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graph with blue bars&#10;&#10;AI-generated content may be incorrect.">
            <a:extLst>
              <a:ext uri="{FF2B5EF4-FFF2-40B4-BE49-F238E27FC236}">
                <a16:creationId xmlns:a16="http://schemas.microsoft.com/office/drawing/2014/main" id="{15640D0C-AEBC-6FB6-2F19-53353AB1B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6" y="2808241"/>
            <a:ext cx="7934325" cy="398716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8F4D8-4109-8985-4B1E-A2DAD46AEBE7}"/>
              </a:ext>
            </a:extLst>
          </p:cNvPr>
          <p:cNvSpPr/>
          <p:nvPr/>
        </p:nvSpPr>
        <p:spPr>
          <a:xfrm>
            <a:off x="417510" y="1240653"/>
            <a:ext cx="4973639" cy="1390172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555B02-2076-1C41-9C7A-346F60FD3FE0}"/>
              </a:ext>
            </a:extLst>
          </p:cNvPr>
          <p:cNvSpPr/>
          <p:nvPr/>
        </p:nvSpPr>
        <p:spPr>
          <a:xfrm>
            <a:off x="417510" y="1240654"/>
            <a:ext cx="4973639" cy="387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D5E903-6014-535D-0443-DDFBFC1665AA}"/>
              </a:ext>
            </a:extLst>
          </p:cNvPr>
          <p:cNvSpPr txBox="1"/>
          <p:nvPr/>
        </p:nvSpPr>
        <p:spPr>
          <a:xfrm>
            <a:off x="507983" y="1258709"/>
            <a:ext cx="32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Logistic Regression Model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8BC62-3648-C5E5-06D3-CF94A33F239B}"/>
              </a:ext>
            </a:extLst>
          </p:cNvPr>
          <p:cNvSpPr txBox="1"/>
          <p:nvPr/>
        </p:nvSpPr>
        <p:spPr>
          <a:xfrm>
            <a:off x="417511" y="1707495"/>
            <a:ext cx="49736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Grid search (C, solver, </a:t>
            </a:r>
            <a:r>
              <a:rPr lang="en-US" dirty="0" err="1">
                <a:solidFill>
                  <a:schemeClr val="bg1"/>
                </a:solidFill>
              </a:rPr>
              <a:t>class_weight</a:t>
            </a:r>
            <a:r>
              <a:rPr lang="en-US" dirty="0">
                <a:solidFill>
                  <a:schemeClr val="bg1"/>
                </a:solidFill>
              </a:rPr>
              <a:t>, penalty)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F1-Score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sz="3600" b="1" dirty="0">
                <a:solidFill>
                  <a:schemeClr val="bg1"/>
                </a:solidFill>
              </a:rPr>
              <a:t>93.25%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914BB35-B55A-024E-E63E-F9DB3A385515}"/>
              </a:ext>
            </a:extLst>
          </p:cNvPr>
          <p:cNvGrpSpPr/>
          <p:nvPr/>
        </p:nvGrpSpPr>
        <p:grpSpPr>
          <a:xfrm>
            <a:off x="6800853" y="1240653"/>
            <a:ext cx="5083651" cy="1390172"/>
            <a:chOff x="6038853" y="1240653"/>
            <a:chExt cx="5083651" cy="139017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FE741D0-A973-2C9B-9D17-8A702EFDCD9A}"/>
                </a:ext>
              </a:extLst>
            </p:cNvPr>
            <p:cNvSpPr/>
            <p:nvPr/>
          </p:nvSpPr>
          <p:spPr>
            <a:xfrm>
              <a:off x="6038853" y="1240653"/>
              <a:ext cx="5083651" cy="1383182"/>
            </a:xfrm>
            <a:prstGeom prst="rect">
              <a:avLst/>
            </a:prstGeom>
            <a:solidFill>
              <a:schemeClr val="tx2"/>
            </a:solidFill>
            <a:ln>
              <a:solidFill>
                <a:srgbClr val="E5E7EB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284534E-1C8C-A3C9-C2F1-976353AB07AD}"/>
                </a:ext>
              </a:extLst>
            </p:cNvPr>
            <p:cNvSpPr/>
            <p:nvPr/>
          </p:nvSpPr>
          <p:spPr>
            <a:xfrm>
              <a:off x="6038853" y="1258709"/>
              <a:ext cx="5083651" cy="3873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9499FB6-EECD-503D-6A2D-E271EC2927D4}"/>
                </a:ext>
              </a:extLst>
            </p:cNvPr>
            <p:cNvSpPr txBox="1"/>
            <p:nvPr/>
          </p:nvSpPr>
          <p:spPr>
            <a:xfrm>
              <a:off x="6054303" y="1258709"/>
              <a:ext cx="41949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Winner: </a:t>
              </a:r>
              <a:r>
                <a:rPr lang="en-US" dirty="0" err="1"/>
                <a:t>XGBoost</a:t>
              </a:r>
              <a:r>
                <a:rPr lang="en-US" dirty="0"/>
                <a:t> Model</a:t>
              </a:r>
              <a:endParaRPr lang="ru-RU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14C54F2-21B2-072B-46AB-E3D3E36EE767}"/>
                </a:ext>
              </a:extLst>
            </p:cNvPr>
            <p:cNvSpPr txBox="1"/>
            <p:nvPr/>
          </p:nvSpPr>
          <p:spPr>
            <a:xfrm>
              <a:off x="6062239" y="1707495"/>
              <a:ext cx="497363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chemeClr val="bg1"/>
                  </a:solidFill>
                </a:rPr>
                <a:t>Grid search (</a:t>
              </a:r>
              <a:r>
                <a:rPr lang="en-US" dirty="0" err="1">
                  <a:solidFill>
                    <a:schemeClr val="bg1"/>
                  </a:solidFill>
                </a:rPr>
                <a:t>n_estimators</a:t>
              </a:r>
              <a:r>
                <a:rPr lang="en-US" dirty="0">
                  <a:solidFill>
                    <a:schemeClr val="bg1"/>
                  </a:solidFill>
                </a:rPr>
                <a:t>, </a:t>
              </a:r>
              <a:r>
                <a:rPr lang="en-US" dirty="0" err="1">
                  <a:solidFill>
                    <a:schemeClr val="bg1"/>
                  </a:solidFill>
                </a:rPr>
                <a:t>max_depth</a:t>
              </a:r>
              <a:r>
                <a:rPr lang="en-US" dirty="0">
                  <a:solidFill>
                    <a:schemeClr val="bg1"/>
                  </a:solidFill>
                </a:rPr>
                <a:t>, LR…)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chemeClr val="bg1"/>
                  </a:solidFill>
                </a:rPr>
                <a:t>F1-Score</a:t>
              </a:r>
              <a:r>
                <a:rPr lang="en-US" dirty="0">
                  <a:solidFill>
                    <a:schemeClr val="bg1"/>
                  </a:solidFill>
                </a:rPr>
                <a:t>: </a:t>
              </a:r>
              <a:r>
                <a:rPr lang="en-US" sz="3600" b="1" dirty="0">
                  <a:solidFill>
                    <a:schemeClr val="bg1"/>
                  </a:solidFill>
                </a:rPr>
                <a:t>94.20%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844D9F0-9302-35A4-6E54-7057BF2E749B}"/>
              </a:ext>
            </a:extLst>
          </p:cNvPr>
          <p:cNvSpPr txBox="1"/>
          <p:nvPr/>
        </p:nvSpPr>
        <p:spPr>
          <a:xfrm>
            <a:off x="8913802" y="2847358"/>
            <a:ext cx="289153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chemeClr val="bg1"/>
                </a:solidFill>
              </a:rPr>
              <a:t>Engineered Features Contribution:</a:t>
            </a:r>
          </a:p>
          <a:p>
            <a:pPr algn="ctr">
              <a:spcBef>
                <a:spcPts val="600"/>
              </a:spcBef>
            </a:pP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headline_length</a:t>
            </a:r>
            <a:r>
              <a:rPr lang="en-US" dirty="0">
                <a:solidFill>
                  <a:schemeClr val="bg1"/>
                </a:solidFill>
              </a:rPr>
              <a:t>: 0.77%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word_count</a:t>
            </a:r>
            <a:r>
              <a:rPr lang="en-US" dirty="0">
                <a:solidFill>
                  <a:schemeClr val="bg1"/>
                </a:solidFill>
              </a:rPr>
              <a:t>: 0.27%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stopword_count</a:t>
            </a:r>
            <a:r>
              <a:rPr lang="en-US" dirty="0">
                <a:solidFill>
                  <a:schemeClr val="bg1"/>
                </a:solidFill>
              </a:rPr>
              <a:t>: 0.22%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duplication_count</a:t>
            </a:r>
            <a:r>
              <a:rPr lang="en-US" dirty="0">
                <a:solidFill>
                  <a:schemeClr val="bg1"/>
                </a:solidFill>
              </a:rPr>
              <a:t>: 0.20%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56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D04B-872D-3141-6299-D37943C3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26790-F373-E020-B4B3-DD30D49B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 err="1">
                <a:solidFill>
                  <a:schemeClr val="bg1"/>
                </a:solidFill>
              </a:rPr>
              <a:t>XGBoost</a:t>
            </a:r>
            <a:r>
              <a:rPr lang="en-US" sz="3600" b="1" dirty="0">
                <a:solidFill>
                  <a:schemeClr val="bg1"/>
                </a:solidFill>
              </a:rPr>
              <a:t>: the winner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A close-up of a pie chart&#10;&#10;AI-generated content may be incorrect.">
            <a:extLst>
              <a:ext uri="{FF2B5EF4-FFF2-40B4-BE49-F238E27FC236}">
                <a16:creationId xmlns:a16="http://schemas.microsoft.com/office/drawing/2014/main" id="{EF4BFDEE-FEA6-76DE-F728-D1BDF896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466826"/>
            <a:ext cx="12192000" cy="44958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D67F0F-34F5-8C1A-9624-59ED305B1B71}"/>
              </a:ext>
            </a:extLst>
          </p:cNvPr>
          <p:cNvSpPr txBox="1"/>
          <p:nvPr/>
        </p:nvSpPr>
        <p:spPr>
          <a:xfrm>
            <a:off x="6276975" y="3429000"/>
            <a:ext cx="9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45.7%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948D9-9843-7BEF-BBDD-5CDCC1386602}"/>
              </a:ext>
            </a:extLst>
          </p:cNvPr>
          <p:cNvSpPr txBox="1"/>
          <p:nvPr/>
        </p:nvSpPr>
        <p:spPr>
          <a:xfrm>
            <a:off x="7863239" y="3714750"/>
            <a:ext cx="9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48.4%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59331C-92A2-E370-14A8-F3E80D87E259}"/>
              </a:ext>
            </a:extLst>
          </p:cNvPr>
          <p:cNvSpPr txBox="1"/>
          <p:nvPr/>
        </p:nvSpPr>
        <p:spPr>
          <a:xfrm>
            <a:off x="6877050" y="1893915"/>
            <a:ext cx="9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4.1%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68F824-62F9-FC40-2C78-3F5B920EDD95}"/>
              </a:ext>
            </a:extLst>
          </p:cNvPr>
          <p:cNvSpPr txBox="1"/>
          <p:nvPr/>
        </p:nvSpPr>
        <p:spPr>
          <a:xfrm>
            <a:off x="7981950" y="2036790"/>
            <a:ext cx="904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1.9%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ABBDCD-927C-054D-168B-66FD68BD813F}"/>
              </a:ext>
            </a:extLst>
          </p:cNvPr>
          <p:cNvSpPr txBox="1"/>
          <p:nvPr/>
        </p:nvSpPr>
        <p:spPr>
          <a:xfrm>
            <a:off x="5986813" y="3798332"/>
            <a:ext cx="134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Correct (TN)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2106A8-4BA0-A43C-A16D-A097679E31D3}"/>
              </a:ext>
            </a:extLst>
          </p:cNvPr>
          <p:cNvSpPr txBox="1"/>
          <p:nvPr/>
        </p:nvSpPr>
        <p:spPr>
          <a:xfrm>
            <a:off x="7539388" y="3982998"/>
            <a:ext cx="134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Correct (TP)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6328CB-08BF-6244-1207-731C342B3A32}"/>
              </a:ext>
            </a:extLst>
          </p:cNvPr>
          <p:cNvSpPr txBox="1"/>
          <p:nvPr/>
        </p:nvSpPr>
        <p:spPr>
          <a:xfrm>
            <a:off x="7334600" y="1695438"/>
            <a:ext cx="54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FP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EC605D-F506-7522-54AE-D50993B96106}"/>
              </a:ext>
            </a:extLst>
          </p:cNvPr>
          <p:cNvSpPr txBox="1"/>
          <p:nvPr/>
        </p:nvSpPr>
        <p:spPr>
          <a:xfrm>
            <a:off x="7730239" y="1760553"/>
            <a:ext cx="547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FN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873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B92F-F7C1-D808-B9A9-055AB7C8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DD92-A39D-94F4-3F74-80F751CC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6" y="404065"/>
            <a:ext cx="9404723" cy="652182"/>
          </a:xfrm>
        </p:spPr>
        <p:txBody>
          <a:bodyPr/>
          <a:lstStyle/>
          <a:p>
            <a:r>
              <a:rPr lang="en-US" sz="3600" b="1" dirty="0">
                <a:solidFill>
                  <a:schemeClr val="bg1"/>
                </a:solidFill>
              </a:rPr>
              <a:t>Summary</a:t>
            </a:r>
            <a:endParaRPr lang="ru-RU" sz="3600" b="1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4D0907-32AB-66A0-4480-1B1B938E9E62}"/>
              </a:ext>
            </a:extLst>
          </p:cNvPr>
          <p:cNvGrpSpPr/>
          <p:nvPr/>
        </p:nvGrpSpPr>
        <p:grpSpPr>
          <a:xfrm>
            <a:off x="214208" y="1314449"/>
            <a:ext cx="11763584" cy="4038601"/>
            <a:chOff x="214208" y="2047874"/>
            <a:chExt cx="11763584" cy="4038601"/>
          </a:xfrm>
        </p:grpSpPr>
        <p:pic>
          <p:nvPicPr>
            <p:cNvPr id="1026" name="Picture 2" descr="Model Performance Progression: Phase 1 Baseline → Phase 2 Feature Engineering → Phase 3 Hyperparameter Tuning. Final Winner: XGBoost 94.20% F1-Score">
              <a:extLst>
                <a:ext uri="{FF2B5EF4-FFF2-40B4-BE49-F238E27FC236}">
                  <a16:creationId xmlns:a16="http://schemas.microsoft.com/office/drawing/2014/main" id="{20541C76-69D4-DFD4-272A-039F6BB8BF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50" b="4833"/>
            <a:stretch>
              <a:fillRect/>
            </a:stretch>
          </p:blipFill>
          <p:spPr bwMode="auto">
            <a:xfrm>
              <a:off x="214208" y="2047874"/>
              <a:ext cx="11763584" cy="4038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979172-D420-B92B-0CC0-A3345D58D8DE}"/>
                </a:ext>
              </a:extLst>
            </p:cNvPr>
            <p:cNvSpPr/>
            <p:nvPr/>
          </p:nvSpPr>
          <p:spPr>
            <a:xfrm>
              <a:off x="3961310" y="2612031"/>
              <a:ext cx="921955" cy="331596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CAA0CA-9E24-A639-B179-70B03F119E8E}"/>
                </a:ext>
              </a:extLst>
            </p:cNvPr>
            <p:cNvSpPr txBox="1"/>
            <p:nvPr/>
          </p:nvSpPr>
          <p:spPr>
            <a:xfrm>
              <a:off x="3961310" y="2577774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</a:rPr>
                <a:t>92.46%</a:t>
              </a:r>
              <a:endParaRPr lang="ru-RU" sz="2000" b="1" dirty="0">
                <a:solidFill>
                  <a:schemeClr val="accent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8F44123-B406-B9B8-BF1B-EF850758A92F}"/>
                </a:ext>
              </a:extLst>
            </p:cNvPr>
            <p:cNvSpPr/>
            <p:nvPr/>
          </p:nvSpPr>
          <p:spPr>
            <a:xfrm>
              <a:off x="8505825" y="4069353"/>
              <a:ext cx="2165235" cy="550271"/>
            </a:xfrm>
            <a:prstGeom prst="rect">
              <a:avLst/>
            </a:prstGeom>
            <a:solidFill>
              <a:srgbClr val="F1F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63DCED-9C06-EBF4-E9F6-BA1102D26A40}"/>
                </a:ext>
              </a:extLst>
            </p:cNvPr>
            <p:cNvSpPr txBox="1"/>
            <p:nvPr/>
          </p:nvSpPr>
          <p:spPr>
            <a:xfrm>
              <a:off x="7210425" y="2577774"/>
              <a:ext cx="1295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</a:rPr>
                <a:t>93.25%</a:t>
              </a:r>
              <a:endParaRPr lang="ru-RU" sz="20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9FBDE-71DF-0358-505E-BC108BE27631}"/>
              </a:ext>
            </a:extLst>
          </p:cNvPr>
          <p:cNvSpPr/>
          <p:nvPr/>
        </p:nvSpPr>
        <p:spPr>
          <a:xfrm>
            <a:off x="388935" y="5512353"/>
            <a:ext cx="11479215" cy="1161570"/>
          </a:xfrm>
          <a:prstGeom prst="rect">
            <a:avLst/>
          </a:prstGeom>
          <a:solidFill>
            <a:schemeClr val="tx2"/>
          </a:solidFill>
          <a:ln>
            <a:solidFill>
              <a:srgbClr val="E5E7EB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BFB8A7-D785-8A77-0093-5E9904D52941}"/>
              </a:ext>
            </a:extLst>
          </p:cNvPr>
          <p:cNvGrpSpPr/>
          <p:nvPr/>
        </p:nvGrpSpPr>
        <p:grpSpPr>
          <a:xfrm>
            <a:off x="388935" y="5512353"/>
            <a:ext cx="11479215" cy="387388"/>
            <a:chOff x="388935" y="5283753"/>
            <a:chExt cx="11479215" cy="3873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AE104F-7CB1-7B90-B43A-ED11332162C6}"/>
                </a:ext>
              </a:extLst>
            </p:cNvPr>
            <p:cNvSpPr/>
            <p:nvPr/>
          </p:nvSpPr>
          <p:spPr>
            <a:xfrm>
              <a:off x="388935" y="5283753"/>
              <a:ext cx="11479215" cy="3873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E9382C-9DC8-F0BA-DED4-54B01D2934D6}"/>
                </a:ext>
              </a:extLst>
            </p:cNvPr>
            <p:cNvSpPr txBox="1"/>
            <p:nvPr/>
          </p:nvSpPr>
          <p:spPr>
            <a:xfrm>
              <a:off x="443025" y="5300443"/>
              <a:ext cx="75175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Limitations/ Next Steps</a:t>
              </a:r>
              <a:endParaRPr lang="ru-RU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3C2F631-D367-E14F-8C72-B87F458E9AC8}"/>
              </a:ext>
            </a:extLst>
          </p:cNvPr>
          <p:cNvSpPr txBox="1"/>
          <p:nvPr/>
        </p:nvSpPr>
        <p:spPr>
          <a:xfrm>
            <a:off x="388937" y="5942065"/>
            <a:ext cx="114792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Test on fresh/real-world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Try a transformer baseline + calibration</a:t>
            </a:r>
          </a:p>
        </p:txBody>
      </p:sp>
    </p:spTree>
    <p:extLst>
      <p:ext uri="{BB962C8B-B14F-4D97-AF65-F5344CB8AC3E}">
        <p14:creationId xmlns:p14="http://schemas.microsoft.com/office/powerpoint/2010/main" val="22108248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Julia_PalletteA_Ion">
      <a:dk1>
        <a:srgbClr val="111827"/>
      </a:dk1>
      <a:lt1>
        <a:srgbClr val="F7F7F5"/>
      </a:lt1>
      <a:dk2>
        <a:srgbClr val="374151"/>
      </a:dk2>
      <a:lt2>
        <a:srgbClr val="FFFFFF"/>
      </a:lt2>
      <a:accent1>
        <a:srgbClr val="1D4ED8"/>
      </a:accent1>
      <a:accent2>
        <a:srgbClr val="C1121F"/>
      </a:accent2>
      <a:accent3>
        <a:srgbClr val="6B7280"/>
      </a:accent3>
      <a:accent4>
        <a:srgbClr val="93C5FD"/>
      </a:accent4>
      <a:accent5>
        <a:srgbClr val="1E3A8A"/>
      </a:accent5>
      <a:accent6>
        <a:srgbClr val="E5E7EB"/>
      </a:accent6>
      <a:hlink>
        <a:srgbClr val="1D4ED8"/>
      </a:hlink>
      <a:folHlink>
        <a:srgbClr val="1E40AF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570_TF78148557.potx" id="{031EB046-6526-43EE-9104-044544D7FD50}" vid="{8BD41C85-6966-4BDB-98F5-B7981A1067B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9F30101-685D-45DE-9DB6-1F040B2FD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1FC55D3-F645-4907-9137-B16FB6054B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661AA8-FA16-4E58-B6CE-5E6FE2A0946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1911</TotalTime>
  <Words>991</Words>
  <Application>Microsoft Office PowerPoint</Application>
  <PresentationFormat>Widescreen</PresentationFormat>
  <Paragraphs>174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Microsoft JhengHei Light</vt:lpstr>
      <vt:lpstr>Aptos</vt:lpstr>
      <vt:lpstr>Aptos Display</vt:lpstr>
      <vt:lpstr>Arial</vt:lpstr>
      <vt:lpstr>Calibri</vt:lpstr>
      <vt:lpstr>Calibri Light</vt:lpstr>
      <vt:lpstr>Consolas</vt:lpstr>
      <vt:lpstr>Wingdings</vt:lpstr>
      <vt:lpstr>Wingdings 3</vt:lpstr>
      <vt:lpstr>Ион</vt:lpstr>
      <vt:lpstr>Custom Design</vt:lpstr>
      <vt:lpstr>PowerPoint Presentation</vt:lpstr>
      <vt:lpstr>Detecting deception</vt:lpstr>
      <vt:lpstr>Dataset and approach</vt:lpstr>
      <vt:lpstr>EDA signals: duplicates &amp; headline length</vt:lpstr>
      <vt:lpstr>Stopwords as signal: count + key words</vt:lpstr>
      <vt:lpstr>Text Preprocessing: hybrid approach</vt:lpstr>
      <vt:lpstr>Vectorization: BoW vs TF-IDF</vt:lpstr>
      <vt:lpstr>Model development: 3 phases</vt:lpstr>
      <vt:lpstr>Model development: Phase 2</vt:lpstr>
      <vt:lpstr>Model development: Hyperparameter Tuning</vt:lpstr>
      <vt:lpstr>XGBoost: the winner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Arkady Parnis</dc:creator>
  <cp:lastModifiedBy>Arkady Parnis</cp:lastModifiedBy>
  <cp:revision>26</cp:revision>
  <dcterms:created xsi:type="dcterms:W3CDTF">2026-01-15T19:42:21Z</dcterms:created>
  <dcterms:modified xsi:type="dcterms:W3CDTF">2026-01-26T16:22:00Z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